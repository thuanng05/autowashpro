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309" r:id="rId2"/>
    <p:sldId id="267" r:id="rId3"/>
    <p:sldId id="270" r:id="rId4"/>
    <p:sldId id="271" r:id="rId5"/>
    <p:sldId id="273" r:id="rId6"/>
    <p:sldId id="275" r:id="rId7"/>
    <p:sldId id="284" r:id="rId8"/>
    <p:sldId id="295" r:id="rId9"/>
    <p:sldId id="300" r:id="rId10"/>
    <p:sldId id="302" r:id="rId11"/>
    <p:sldId id="310" r:id="rId12"/>
    <p:sldId id="308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82" y="1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B4E80-12CC-0FE3-E778-BD5B0D0B43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0C4C0C-6CC2-457E-4262-A9ED6794CE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D6E2C9-0DEC-F61A-5ABF-7747E028F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2DDF-BCCB-4DC6-9E31-6999D41B8A27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37D6BB-9C7C-B2D3-45B9-0F6D73B25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3A85D3-B4EA-C6BC-222D-0F8D98D6B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C068C-E665-41F0-866B-1AB780530A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087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26A67-F47A-5D07-150E-C9D6E31C3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54B22-FD8A-8B0D-CCB3-9ED102BAAA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FD0648-06C6-42D3-398A-2A23B550D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2DDF-BCCB-4DC6-9E31-6999D41B8A27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7BCC1B-8C93-8E01-91F0-EF9A6E749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8A97BC-B135-F705-1F63-21A9428C2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C068C-E665-41F0-866B-1AB780530A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8343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F3150-6071-8E9C-C572-7E6E3A0BF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E17784-ECDE-1735-C85B-E122A2450E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E42012-49A4-B1C4-B94A-01B85E7A0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2DDF-BCCB-4DC6-9E31-6999D41B8A27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E87207-446F-1BBA-7B82-D74E56153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A71E0B-D753-2080-1A18-38768C0A6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C068C-E665-41F0-866B-1AB780530A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6322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E4B74-C5F3-1825-184C-DA945E55D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EF23D-73A0-AF68-8F0C-289FF26A5D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E06232-709A-9E8E-2F0F-D22814EA13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83E1CB-7FFD-F4F1-D3A5-808279E91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2DDF-BCCB-4DC6-9E31-6999D41B8A27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CD1850-23EF-B384-B720-98D941098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CD333A-FAAE-A365-982A-FFC98D6C1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C068C-E665-41F0-866B-1AB780530A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109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A2433-243C-FA17-2033-D08BE8E263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3F26CA-3206-68B9-ABCB-82C83958CB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9F2BB1-0EBF-A6BF-5F4D-D042A3C693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02C389-BACB-0BB6-0E99-AB8F934503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BECB09-FE80-10D1-C36B-427DE4C1A5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6D72AC-203D-54E2-41C0-381945FCD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2DDF-BCCB-4DC6-9E31-6999D41B8A27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07B59F2-6687-B524-1B8F-8CA800A87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D7FF15-95FA-4520-DC70-4E78C99DA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C068C-E665-41F0-866B-1AB780530A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785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A2906-1782-5501-36BD-26822172C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54B26F-9F23-6CF1-61ED-1F83925AA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2DDF-BCCB-4DC6-9E31-6999D41B8A27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479FEA-4935-2B97-5FA2-9BD985F88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E2EBFC-7B97-FC69-2FAD-281E5F7E1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C068C-E665-41F0-866B-1AB780530A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711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242503-F9CA-0D06-0AF6-E98F4DAED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2DDF-BCCB-4DC6-9E31-6999D41B8A27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8E5692C-C1BF-EE49-B0C1-B0B290612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CC0D40-9EFE-2109-5CAB-8FB7566EA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C068C-E665-41F0-866B-1AB780530A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8793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78ED7-D34D-B877-209C-40448A562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4971B-FE40-8961-62BC-F1184D31DC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13B5D4-4B55-0BC8-8B47-59C2E184B9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46E155-39F2-79BF-0931-A4D73CCC2F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2DDF-BCCB-4DC6-9E31-6999D41B8A27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BF3C1D-01ED-8199-FD09-68EC4EE3A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A7730B-6345-EFC2-A20B-674BEB2BE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C068C-E665-41F0-866B-1AB780530A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109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D9FEE-A051-97CB-6325-BDE457C9B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590888-53B5-830B-26FE-C5B94EE37B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4C9296-8E7D-4A86-088E-DBB80E0C3A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F8DE5A-D4BC-5257-3A27-647F1D62A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2DDF-BCCB-4DC6-9E31-6999D41B8A27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864497-D346-1F1E-D7E7-175CF1305E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A3704F-1BA3-F8F9-7B83-A24B30177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C068C-E665-41F0-866B-1AB780530A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296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CD456-2262-213B-E6D1-BB800F9CF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B67690-8425-9BAC-AF6D-FCD2F9C4D4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5E6686-4216-B27E-AC69-31400AA34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2DDF-BCCB-4DC6-9E31-6999D41B8A27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4C5708-D46E-0978-3AFC-60CDE02F2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791541-A77F-5CD2-46B4-9F630EA07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C068C-E665-41F0-866B-1AB780530A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798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749E704-BC4B-BD25-A016-C7F8AC257D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C03AD-766B-7D04-1CBA-4F6B6AC4FD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F3EB35-1CEC-D33A-2D90-EC6E68F788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E2DDF-BCCB-4DC6-9E31-6999D41B8A27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990F4C-4BE6-E118-D937-2ED354212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B1E7FC-1039-7748-DD64-AF5FC894A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C068C-E665-41F0-866B-1AB780530A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8877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FFFF"/>
            </a:gs>
            <a:gs pos="100000">
              <a:srgbClr val="EDF6FC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DDC411-90A3-57C6-6028-5E11A9B70B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B059DA-1956-6275-188E-5A6C5E03C7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EE0E84-1A7B-F4AF-586D-50FC546D82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CE2DDF-BCCB-4DC6-9E31-6999D41B8A27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E04411-3F4B-B4A9-287F-7D2B6911F7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076E17-06EE-99B7-D222-CFDDEB47A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CC068C-E665-41F0-866B-1AB780530A47}" type="slidenum">
              <a:rPr lang="en-US" smtClean="0"/>
              <a:t>‹#›</a:t>
            </a:fld>
            <a:endParaRPr lang="en-US"/>
          </a:p>
        </p:txBody>
      </p:sp>
      <p:grpSp>
        <p:nvGrpSpPr>
          <p:cNvPr id="900" name="Deco"/>
          <p:cNvGrpSpPr/>
          <p:nvPr/>
        </p:nvGrpSpPr>
        <p:grpSpPr>
          <a:xfrm>
            <a:off x="0" y="0"/>
            <a:ext cx="9144000" cy="6858000"/>
            <a:chOff x="0" y="0"/>
            <a:chExt cx="9144000" cy="6858000"/>
          </a:xfrm>
        </p:grpSpPr>
        <p:sp>
          <p:nvSpPr>
            <p:cNvPr id="901" name="BottomBar"/>
            <p:cNvSpPr/>
            <p:nvPr/>
          </p:nvSpPr>
          <p:spPr>
            <a:xfrm>
              <a:off x="0" y="6797040"/>
              <a:ext cx="9144000" cy="60960"/>
            </a:xfrm>
            <a:prstGeom prst="rect">
              <a:avLst/>
            </a:prstGeom>
            <a:gradFill>
              <a:gsLst>
                <a:gs pos="0">
                  <a:srgbClr val="2563EB"/>
                </a:gs>
                <a:gs pos="100000">
                  <a:srgbClr val="06B6D4"/>
                </a:gs>
              </a:gsLst>
              <a:lin ang="0" scaled="1"/>
            </a:gra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2" name="CornerTri"/>
            <p:cNvSpPr/>
            <p:nvPr/>
          </p:nvSpPr>
          <p:spPr>
            <a:xfrm rot="10800000" flipH="1">
              <a:off x="8229600" y="0"/>
              <a:ext cx="914400" cy="914400"/>
            </a:xfrm>
            <a:prstGeom prst="rtTriangle">
              <a:avLst/>
            </a:prstGeom>
            <a:solidFill>
              <a:srgbClr val="06B6D4">
                <a:alpha val="18000"/>
              </a:srgb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23549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F2A43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1F3B5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8.svg"/><Relationship Id="rId7" Type="http://schemas.openxmlformats.org/officeDocument/2006/relationships/image" Target="../media/image4.sv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svg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6.svg"/><Relationship Id="rId5" Type="http://schemas.openxmlformats.org/officeDocument/2006/relationships/image" Target="../media/image15.svg"/><Relationship Id="rId10" Type="http://schemas.openxmlformats.org/officeDocument/2006/relationships/image" Target="../media/image19.svg"/><Relationship Id="rId4" Type="http://schemas.openxmlformats.org/officeDocument/2006/relationships/image" Target="../media/image14.svg"/><Relationship Id="rId9" Type="http://schemas.openxmlformats.org/officeDocument/2006/relationships/image" Target="../media/image18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sv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sv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A098B-5AB8-365F-04EF-B4687694D7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692400"/>
            <a:ext cx="9144000" cy="1219200"/>
          </a:xfrm>
        </p:spPr>
        <p:txBody>
          <a:bodyPr/>
          <a:lstStyle/>
          <a:p>
            <a:pPr algn="ctr"/>
            <a:r>
              <a:rPr lang="en-US" sz="5400" b="1" dirty="0"/>
              <a:t>AutoWash Pro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C09EA1-F3DB-C91C-ED7F-ADF930CEC3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2000" y="4013200"/>
            <a:ext cx="8128000" cy="762000"/>
          </a:xfrm>
        </p:spPr>
        <p:txBody>
          <a:bodyPr/>
          <a:lstStyle/>
          <a:p>
            <a:pPr algn="ctr"/>
            <a:r>
              <a:rPr lang="en-US" sz="2200" dirty="0">
                <a:solidFill>
                  <a:schemeClr val="accent2"/>
                </a:solidFill>
              </a:rPr>
              <a:t>Nền tảng quản lý &amp; tự động hóa dịch vụ rửa xe</a:t>
            </a:r>
          </a:p>
        </p:txBody>
      </p:sp>
      <p:pic>
        <p:nvPicPr>
          <p:cNvPr id="4" name="Graphic 4" descr="Car wash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62600" y="1219200"/>
            <a:ext cx="1066800" cy="10668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C160E62-5A74-45B3-9FCE-E11AF8EA403C}"/>
              </a:ext>
            </a:extLst>
          </p:cNvPr>
          <p:cNvSpPr/>
          <p:nvPr/>
        </p:nvSpPr>
        <p:spPr>
          <a:xfrm>
            <a:off x="5461000" y="2489200"/>
            <a:ext cx="1270000" cy="50800"/>
          </a:xfrm>
          <a:prstGeom prst="rect">
            <a:avLst/>
          </a:prstGeom>
          <a:solidFill>
            <a:srgbClr val="06B6D4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0873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51604-842E-3500-C21D-BFDDB61EA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Tổng quan hệ thống</a:t>
            </a:r>
          </a:p>
        </p:txBody>
      </p:sp>
      <p:sp>
        <p:nvSpPr>
          <p:cNvPr id="201" name="r201"/>
          <p:cNvSpPr/>
          <p:nvPr/>
        </p:nvSpPr>
        <p:spPr>
          <a:xfrm>
            <a:off x="609600" y="1905000"/>
            <a:ext cx="10972800" cy="1219200"/>
          </a:xfrm>
          <a:prstGeom prst="roundRect">
            <a:avLst>
              <a:gd name="adj" fmla="val 8000"/>
            </a:avLst>
          </a:prstGeom>
          <a:solidFill>
            <a:srgbClr val="E8F5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t202"/>
          <p:cNvSpPr txBox="1"/>
          <p:nvPr/>
        </p:nvSpPr>
        <p:spPr>
          <a:xfrm>
            <a:off x="889000" y="2057400"/>
            <a:ext cx="10414000" cy="9398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>
              <a:buNone/>
            </a:pPr>
            <a:r>
              <a:rPr lang="en-US" sz="1600" b="1" dirty="0">
                <a:solidFill>
                  <a:schemeClr val="accent2"/>
                </a:solidFill>
              </a:rPr>
              <a:t>Mục tiêu</a:t>
            </a:r>
          </a:p>
          <a:p>
            <a:pPr>
              <a:buNone/>
            </a:pPr>
            <a:r>
              <a:rPr lang="en-US" sz="1500" dirty="0"/>
              <a:t>Số hóa toàn bộ quy trình rửa xe: đặt lịch online, xếp hàng chờ tự động, theo dõi tiến trình real-time, thanh toán online và tích điểm khách hàng thân thiết.</a:t>
            </a:r>
          </a:p>
        </p:txBody>
      </p:sp>
      <p:sp>
        <p:nvSpPr>
          <p:cNvPr id="203" name="r203"/>
          <p:cNvSpPr/>
          <p:nvPr/>
        </p:nvSpPr>
        <p:spPr>
          <a:xfrm>
            <a:off x="609600" y="3632200"/>
            <a:ext cx="2006600" cy="248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6F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4" name="t204"/>
          <p:cNvSpPr txBox="1"/>
          <p:nvPr/>
        </p:nvSpPr>
        <p:spPr>
          <a:xfrm>
            <a:off x="711200" y="4851400"/>
            <a:ext cx="1803400" cy="5588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n-US" sz="1500" b="1" dirty="0">
                <a:solidFill>
                  <a:srgbClr val="0F2A43"/>
                </a:solidFill>
              </a:rPr>
              <a:t>Tự động hóa</a:t>
            </a:r>
          </a:p>
        </p:txBody>
      </p:sp>
      <p:sp>
        <p:nvSpPr>
          <p:cNvPr id="205" name="t205"/>
          <p:cNvSpPr txBox="1"/>
          <p:nvPr/>
        </p:nvSpPr>
        <p:spPr>
          <a:xfrm>
            <a:off x="736600" y="5410200"/>
            <a:ext cx="1752600" cy="635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n-US" sz="1400" dirty="0">
                <a:solidFill>
                  <a:srgbClr val="4A6076"/>
                </a:solidFill>
              </a:rPr>
              <a:t>Rửa xe tự động từng bước</a:t>
            </a:r>
          </a:p>
        </p:txBody>
      </p:sp>
      <p:sp>
        <p:nvSpPr>
          <p:cNvPr id="206" name="r206"/>
          <p:cNvSpPr/>
          <p:nvPr/>
        </p:nvSpPr>
        <p:spPr>
          <a:xfrm>
            <a:off x="2844800" y="3632200"/>
            <a:ext cx="2006600" cy="248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6F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7" name="t207"/>
          <p:cNvSpPr txBox="1"/>
          <p:nvPr/>
        </p:nvSpPr>
        <p:spPr>
          <a:xfrm>
            <a:off x="2946400" y="4851400"/>
            <a:ext cx="1803400" cy="5588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n-US" sz="1500" b="1" dirty="0">
                <a:solidFill>
                  <a:srgbClr val="0F2A43"/>
                </a:solidFill>
              </a:rPr>
              <a:t>Real-time</a:t>
            </a:r>
          </a:p>
        </p:txBody>
      </p:sp>
      <p:sp>
        <p:nvSpPr>
          <p:cNvPr id="208" name="t208"/>
          <p:cNvSpPr txBox="1"/>
          <p:nvPr/>
        </p:nvSpPr>
        <p:spPr>
          <a:xfrm>
            <a:off x="2971800" y="5410200"/>
            <a:ext cx="1752600" cy="635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n-US" sz="1400" dirty="0">
                <a:solidFill>
                  <a:srgbClr val="4A6076"/>
                </a:solidFill>
              </a:rPr>
              <a:t>Hàng chờ cập nhật tức thời</a:t>
            </a:r>
          </a:p>
        </p:txBody>
      </p:sp>
      <p:sp>
        <p:nvSpPr>
          <p:cNvPr id="209" name="r209"/>
          <p:cNvSpPr/>
          <p:nvPr/>
        </p:nvSpPr>
        <p:spPr>
          <a:xfrm>
            <a:off x="5080000" y="3632200"/>
            <a:ext cx="2006600" cy="248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6F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0" name="t210"/>
          <p:cNvSpPr txBox="1"/>
          <p:nvPr/>
        </p:nvSpPr>
        <p:spPr>
          <a:xfrm>
            <a:off x="5181600" y="4851400"/>
            <a:ext cx="1803400" cy="5588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n-US" sz="1500" b="1" dirty="0">
                <a:solidFill>
                  <a:srgbClr val="0F2A43"/>
                </a:solidFill>
              </a:rPr>
              <a:t>Loyalty đa hạng</a:t>
            </a:r>
          </a:p>
        </p:txBody>
      </p:sp>
      <p:sp>
        <p:nvSpPr>
          <p:cNvPr id="211" name="t211"/>
          <p:cNvSpPr txBox="1"/>
          <p:nvPr/>
        </p:nvSpPr>
        <p:spPr>
          <a:xfrm>
            <a:off x="5207000" y="5410200"/>
            <a:ext cx="1752600" cy="635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n-US" sz="1400" dirty="0">
                <a:solidFill>
                  <a:srgbClr val="4A6076"/>
                </a:solidFill>
              </a:rPr>
              <a:t>Tích điểm, thăng hạng</a:t>
            </a:r>
          </a:p>
        </p:txBody>
      </p:sp>
      <p:sp>
        <p:nvSpPr>
          <p:cNvPr id="212" name="r212"/>
          <p:cNvSpPr/>
          <p:nvPr/>
        </p:nvSpPr>
        <p:spPr>
          <a:xfrm>
            <a:off x="7315200" y="3632200"/>
            <a:ext cx="2006600" cy="248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6F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3" name="t213"/>
          <p:cNvSpPr txBox="1"/>
          <p:nvPr/>
        </p:nvSpPr>
        <p:spPr>
          <a:xfrm>
            <a:off x="7416800" y="4851400"/>
            <a:ext cx="1803400" cy="5588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n-US" sz="1500" b="1" dirty="0">
                <a:solidFill>
                  <a:srgbClr val="0F2A43"/>
                </a:solidFill>
              </a:rPr>
              <a:t>Thanh toán online</a:t>
            </a:r>
          </a:p>
        </p:txBody>
      </p:sp>
      <p:sp>
        <p:nvSpPr>
          <p:cNvPr id="214" name="t214"/>
          <p:cNvSpPr txBox="1"/>
          <p:nvPr/>
        </p:nvSpPr>
        <p:spPr>
          <a:xfrm>
            <a:off x="7442200" y="5410200"/>
            <a:ext cx="1752600" cy="635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n-US" sz="1400" dirty="0">
                <a:solidFill>
                  <a:srgbClr val="4A6076"/>
                </a:solidFill>
              </a:rPr>
              <a:t>An toàn qua PayOS</a:t>
            </a:r>
          </a:p>
        </p:txBody>
      </p:sp>
      <p:sp>
        <p:nvSpPr>
          <p:cNvPr id="215" name="r215"/>
          <p:cNvSpPr/>
          <p:nvPr/>
        </p:nvSpPr>
        <p:spPr>
          <a:xfrm>
            <a:off x="9550400" y="3632200"/>
            <a:ext cx="2006600" cy="248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6F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6" name="t216"/>
          <p:cNvSpPr txBox="1"/>
          <p:nvPr/>
        </p:nvSpPr>
        <p:spPr>
          <a:xfrm>
            <a:off x="9652000" y="4851400"/>
            <a:ext cx="1803400" cy="5588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n-US" sz="1500" b="1" dirty="0">
                <a:solidFill>
                  <a:srgbClr val="0F2A43"/>
                </a:solidFill>
              </a:rPr>
              <a:t>Chuyển quyền sở hữu</a:t>
            </a:r>
          </a:p>
        </p:txBody>
      </p:sp>
      <p:sp>
        <p:nvSpPr>
          <p:cNvPr id="217" name="t217"/>
          <p:cNvSpPr txBox="1"/>
          <p:nvPr/>
        </p:nvSpPr>
        <p:spPr>
          <a:xfrm>
            <a:off x="9677400" y="5410200"/>
            <a:ext cx="1752600" cy="635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>
              <a:buNone/>
            </a:pPr>
            <a:r>
              <a:rPr lang="en-US" sz="1400" dirty="0">
                <a:solidFill>
                  <a:srgbClr val="4A6076"/>
                </a:solidFill>
              </a:rPr>
              <a:t>Chuyển xe kèm chứng từ</a:t>
            </a:r>
          </a:p>
        </p:txBody>
      </p:sp>
      <p:pic>
        <p:nvPicPr>
          <p:cNvPr id="218" name="Graphic 218" descr="Automation gear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33500" y="3810000"/>
            <a:ext cx="558800" cy="558800"/>
          </a:xfrm>
          <a:prstGeom prst="rect">
            <a:avLst/>
          </a:prstGeom>
        </p:spPr>
      </p:pic>
      <p:pic>
        <p:nvPicPr>
          <p:cNvPr id="219" name="Graphic 219" descr="Real-time lightni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68700" y="3810000"/>
            <a:ext cx="558800" cy="558800"/>
          </a:xfrm>
          <a:prstGeom prst="rect">
            <a:avLst/>
          </a:prstGeom>
        </p:spPr>
      </p:pic>
      <p:pic>
        <p:nvPicPr>
          <p:cNvPr id="220" name="Graphic 220" descr="Loyalty meda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03900" y="3810000"/>
            <a:ext cx="558800" cy="558800"/>
          </a:xfrm>
          <a:prstGeom prst="rect">
            <a:avLst/>
          </a:prstGeom>
        </p:spPr>
      </p:pic>
      <p:pic>
        <p:nvPicPr>
          <p:cNvPr id="221" name="Graphic 221" descr="Online payment card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39100" y="3810000"/>
            <a:ext cx="558800" cy="558800"/>
          </a:xfrm>
          <a:prstGeom prst="rect">
            <a:avLst/>
          </a:prstGeom>
        </p:spPr>
      </p:pic>
      <p:pic>
        <p:nvPicPr>
          <p:cNvPr id="222" name="Graphic 222" descr="Ownership transfe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274300" y="3810000"/>
            <a:ext cx="558800" cy="55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31591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26D2B-6568-4BC2-3DFF-A0A0E42E5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Kiến trúc hệ thống</a:t>
            </a:r>
          </a:p>
        </p:txBody>
      </p:sp>
      <p:sp>
        <p:nvSpPr>
          <p:cNvPr id="301" name="b301"/>
          <p:cNvSpPr/>
          <p:nvPr/>
        </p:nvSpPr>
        <p:spPr>
          <a:xfrm>
            <a:off x="609600" y="1905000"/>
            <a:ext cx="10972800" cy="736600"/>
          </a:xfrm>
          <a:prstGeom prst="roundRect">
            <a:avLst>
              <a:gd name="adj" fmla="val 6000"/>
            </a:avLst>
          </a:prstGeom>
          <a:solidFill>
            <a:srgbClr val="E8F5FC"/>
          </a:solidFill>
          <a:ln w="15875">
            <a:solidFill>
              <a:srgbClr val="0EA5E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2" name="t302"/>
          <p:cNvSpPr txBox="1"/>
          <p:nvPr/>
        </p:nvSpPr>
        <p:spPr>
          <a:xfrm>
            <a:off x="762000" y="1905000"/>
            <a:ext cx="10668000" cy="7366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0369A1"/>
                </a:solidFill>
              </a:rPr>
              <a:t>CLIENT — Trình duyệt</a:t>
            </a:r>
          </a:p>
          <a:p>
            <a:pPr algn="ctr">
              <a:buNone/>
            </a:pPr>
            <a:r>
              <a:rPr lang="en-US" sz="1400" dirty="0">
                <a:solidFill>
                  <a:srgbClr val="4A6076"/>
                </a:solidFill>
              </a:rPr>
              <a:t>React 19 SPA (Vite) · React Router 7 · Axios · Bootstrap 5.3 · SignalR Client</a:t>
            </a:r>
          </a:p>
        </p:txBody>
      </p:sp>
      <p:sp>
        <p:nvSpPr>
          <p:cNvPr id="303" name="a303"/>
          <p:cNvSpPr/>
          <p:nvPr/>
        </p:nvSpPr>
        <p:spPr>
          <a:xfrm>
            <a:off x="5969000" y="2641600"/>
            <a:ext cx="254000" cy="177800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4" name="b304"/>
          <p:cNvSpPr/>
          <p:nvPr/>
        </p:nvSpPr>
        <p:spPr>
          <a:xfrm>
            <a:off x="609600" y="2844800"/>
            <a:ext cx="10972800" cy="1905000"/>
          </a:xfrm>
          <a:prstGeom prst="roundRect">
            <a:avLst>
              <a:gd name="adj" fmla="val 6000"/>
            </a:avLst>
          </a:prstGeom>
          <a:solidFill>
            <a:srgbClr val="EEF6FC"/>
          </a:solidFill>
          <a:ln w="15875">
            <a:solidFill>
              <a:srgbClr val="2563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5" name="t305"/>
          <p:cNvSpPr txBox="1"/>
          <p:nvPr/>
        </p:nvSpPr>
        <p:spPr>
          <a:xfrm>
            <a:off x="762000" y="2895600"/>
            <a:ext cx="10668000" cy="330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1E40AF"/>
                </a:solidFill>
              </a:rPr>
              <a:t>BACKEND — ASP.NET Core Web API (.NET)</a:t>
            </a:r>
          </a:p>
        </p:txBody>
      </p:sp>
      <p:sp>
        <p:nvSpPr>
          <p:cNvPr id="306" name="b306"/>
          <p:cNvSpPr/>
          <p:nvPr/>
        </p:nvSpPr>
        <p:spPr>
          <a:xfrm>
            <a:off x="711200" y="3327400"/>
            <a:ext cx="2032000" cy="1320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93C5F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7" name="t307"/>
          <p:cNvSpPr txBox="1"/>
          <p:nvPr/>
        </p:nvSpPr>
        <p:spPr>
          <a:xfrm>
            <a:off x="711200" y="3327400"/>
            <a:ext cx="2032000" cy="1320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0F2A43"/>
                </a:solidFill>
              </a:rPr>
              <a:t>Controllers</a:t>
            </a:r>
          </a:p>
          <a:p>
            <a:pPr algn="ctr">
              <a:buNone/>
            </a:pPr>
            <a:r>
              <a:rPr lang="en-US" sz="1200" dirty="0">
                <a:solidFill>
                  <a:srgbClr val="5B7186"/>
                </a:solidFill>
              </a:rPr>
              <a:t>REST API</a:t>
            </a:r>
          </a:p>
        </p:txBody>
      </p:sp>
      <p:sp>
        <p:nvSpPr>
          <p:cNvPr id="308" name="b308"/>
          <p:cNvSpPr/>
          <p:nvPr/>
        </p:nvSpPr>
        <p:spPr>
          <a:xfrm>
            <a:off x="2870200" y="3327400"/>
            <a:ext cx="2032000" cy="1320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93C5F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9" name="t309"/>
          <p:cNvSpPr txBox="1"/>
          <p:nvPr/>
        </p:nvSpPr>
        <p:spPr>
          <a:xfrm>
            <a:off x="2870200" y="3327400"/>
            <a:ext cx="2032000" cy="1320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0F2A43"/>
                </a:solidFill>
              </a:rPr>
              <a:t>Services</a:t>
            </a:r>
          </a:p>
          <a:p>
            <a:pPr algn="ctr">
              <a:buNone/>
            </a:pPr>
            <a:r>
              <a:rPr lang="en-US" sz="1200" dirty="0">
                <a:solidFill>
                  <a:srgbClr val="5B7186"/>
                </a:solidFill>
              </a:rPr>
              <a:t>Business Logic</a:t>
            </a:r>
          </a:p>
        </p:txBody>
      </p:sp>
      <p:sp>
        <p:nvSpPr>
          <p:cNvPr id="310" name="b310"/>
          <p:cNvSpPr/>
          <p:nvPr/>
        </p:nvSpPr>
        <p:spPr>
          <a:xfrm>
            <a:off x="5029200" y="3327400"/>
            <a:ext cx="2032000" cy="1320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93C5F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11" name="t311"/>
          <p:cNvSpPr txBox="1"/>
          <p:nvPr/>
        </p:nvSpPr>
        <p:spPr>
          <a:xfrm>
            <a:off x="5029200" y="3327400"/>
            <a:ext cx="2032000" cy="1320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0F2A43"/>
                </a:solidFill>
              </a:rPr>
              <a:t>SignalR Hub</a:t>
            </a:r>
          </a:p>
          <a:p>
            <a:pPr algn="ctr">
              <a:buNone/>
            </a:pPr>
            <a:r>
              <a:rPr lang="en-US" sz="1200" dirty="0">
                <a:solidFill>
                  <a:srgbClr val="5B7186"/>
                </a:solidFill>
              </a:rPr>
              <a:t>/hubs/bookings</a:t>
            </a:r>
          </a:p>
        </p:txBody>
      </p:sp>
      <p:sp>
        <p:nvSpPr>
          <p:cNvPr id="312" name="b312"/>
          <p:cNvSpPr/>
          <p:nvPr/>
        </p:nvSpPr>
        <p:spPr>
          <a:xfrm>
            <a:off x="7188200" y="3327400"/>
            <a:ext cx="2032000" cy="1320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93C5F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13" name="t313"/>
          <p:cNvSpPr txBox="1"/>
          <p:nvPr/>
        </p:nvSpPr>
        <p:spPr>
          <a:xfrm>
            <a:off x="7188200" y="3327400"/>
            <a:ext cx="2032000" cy="1320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0F2A43"/>
                </a:solidFill>
              </a:rPr>
              <a:t>Background Service</a:t>
            </a:r>
          </a:p>
          <a:p>
            <a:pPr algn="ctr">
              <a:buNone/>
            </a:pPr>
            <a:r>
              <a:rPr lang="en-US" sz="1200" dirty="0">
                <a:solidFill>
                  <a:srgbClr val="5B7186"/>
                </a:solidFill>
              </a:rPr>
              <a:t>Workflow rửa xe</a:t>
            </a:r>
          </a:p>
        </p:txBody>
      </p:sp>
      <p:sp>
        <p:nvSpPr>
          <p:cNvPr id="314" name="b314"/>
          <p:cNvSpPr/>
          <p:nvPr/>
        </p:nvSpPr>
        <p:spPr>
          <a:xfrm>
            <a:off x="9347200" y="3327400"/>
            <a:ext cx="2032000" cy="1320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93C5F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15" name="t315"/>
          <p:cNvSpPr txBox="1"/>
          <p:nvPr/>
        </p:nvSpPr>
        <p:spPr>
          <a:xfrm>
            <a:off x="9347200" y="3327400"/>
            <a:ext cx="2032000" cy="1320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0F2A43"/>
                </a:solidFill>
              </a:rPr>
              <a:t>EF Core + Npgsql</a:t>
            </a:r>
          </a:p>
          <a:p>
            <a:pPr algn="ctr">
              <a:buNone/>
            </a:pPr>
            <a:r>
              <a:rPr lang="en-US" sz="1200" dirty="0">
                <a:solidFill>
                  <a:srgbClr val="5B7186"/>
                </a:solidFill>
              </a:rPr>
              <a:t>ORM / Data Access</a:t>
            </a:r>
          </a:p>
        </p:txBody>
      </p:sp>
      <p:sp>
        <p:nvSpPr>
          <p:cNvPr id="316" name="a316"/>
          <p:cNvSpPr/>
          <p:nvPr/>
        </p:nvSpPr>
        <p:spPr>
          <a:xfrm>
            <a:off x="3022600" y="4775200"/>
            <a:ext cx="254000" cy="203200"/>
          </a:xfrm>
          <a:prstGeom prst="downArrow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7" name="a317"/>
          <p:cNvSpPr/>
          <p:nvPr/>
        </p:nvSpPr>
        <p:spPr>
          <a:xfrm>
            <a:off x="8661400" y="4775200"/>
            <a:ext cx="254000" cy="203200"/>
          </a:xfrm>
          <a:prstGeom prst="downArrow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8" name="b318"/>
          <p:cNvSpPr/>
          <p:nvPr/>
        </p:nvSpPr>
        <p:spPr>
          <a:xfrm>
            <a:off x="609600" y="5003800"/>
            <a:ext cx="5080000" cy="711200"/>
          </a:xfrm>
          <a:prstGeom prst="roundRect">
            <a:avLst>
              <a:gd name="adj" fmla="val 6000"/>
            </a:avLst>
          </a:prstGeom>
          <a:solidFill>
            <a:srgbClr val="E3EFF9"/>
          </a:solidFill>
          <a:ln w="15875">
            <a:solidFill>
              <a:srgbClr val="1E40A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19" name="t319"/>
          <p:cNvSpPr txBox="1"/>
          <p:nvPr/>
        </p:nvSpPr>
        <p:spPr>
          <a:xfrm>
            <a:off x="609600" y="5003800"/>
            <a:ext cx="5080000" cy="711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1E40AF"/>
                </a:solidFill>
              </a:rPr>
              <a:t>PostgreSQL (Supabase)</a:t>
            </a:r>
          </a:p>
          <a:p>
            <a:pPr algn="ctr">
              <a:buNone/>
            </a:pPr>
            <a:r>
              <a:rPr lang="en-US" sz="1400" dirty="0">
                <a:solidFill>
                  <a:srgbClr val="4A6076"/>
                </a:solidFill>
              </a:rPr>
              <a:t>Cơ sở dữ liệu</a:t>
            </a:r>
          </a:p>
        </p:txBody>
      </p:sp>
      <p:sp>
        <p:nvSpPr>
          <p:cNvPr id="320" name="t320"/>
          <p:cNvSpPr txBox="1"/>
          <p:nvPr/>
        </p:nvSpPr>
        <p:spPr>
          <a:xfrm>
            <a:off x="5994400" y="4724400"/>
            <a:ext cx="5588000" cy="254000"/>
          </a:xfrm>
          <a:prstGeom prst="rect">
            <a:avLst/>
          </a:prstGeom>
          <a:noFill/>
        </p:spPr>
        <p:txBody>
          <a:bodyPr wrap="square" lIns="45720" tIns="27432" rIns="45720" bIns="27432" anchor="b">
            <a:normAutofit/>
          </a:bodyPr>
          <a:lstStyle/>
          <a:p>
            <a:pPr algn="l">
              <a:buNone/>
            </a:pPr>
            <a:r>
              <a:rPr lang="en-US" sz="1100" b="1" dirty="0">
                <a:solidFill>
                  <a:srgbClr val="0891B2"/>
                </a:solidFill>
              </a:rPr>
              <a:t>DỊCH VỤ NGOÀI</a:t>
            </a:r>
          </a:p>
        </p:txBody>
      </p:sp>
      <p:sp>
        <p:nvSpPr>
          <p:cNvPr id="321" name="b321"/>
          <p:cNvSpPr/>
          <p:nvPr/>
        </p:nvSpPr>
        <p:spPr>
          <a:xfrm>
            <a:off x="5994400" y="5029200"/>
            <a:ext cx="1778000" cy="71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6B6D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22" name="t322"/>
          <p:cNvSpPr txBox="1"/>
          <p:nvPr/>
        </p:nvSpPr>
        <p:spPr>
          <a:xfrm>
            <a:off x="5994400" y="5029200"/>
            <a:ext cx="1778000" cy="711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0F2A43"/>
                </a:solidFill>
              </a:rPr>
              <a:t>PayOS</a:t>
            </a:r>
          </a:p>
          <a:p>
            <a:pPr algn="ctr">
              <a:buNone/>
            </a:pPr>
            <a:r>
              <a:rPr lang="en-US" sz="1100" dirty="0">
                <a:solidFill>
                  <a:srgbClr val="5B7186"/>
                </a:solidFill>
              </a:rPr>
              <a:t>Thanh toán</a:t>
            </a:r>
          </a:p>
        </p:txBody>
      </p:sp>
      <p:sp>
        <p:nvSpPr>
          <p:cNvPr id="323" name="b323"/>
          <p:cNvSpPr/>
          <p:nvPr/>
        </p:nvSpPr>
        <p:spPr>
          <a:xfrm>
            <a:off x="7899400" y="5029200"/>
            <a:ext cx="1778000" cy="71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6B6D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24" name="t324"/>
          <p:cNvSpPr txBox="1"/>
          <p:nvPr/>
        </p:nvSpPr>
        <p:spPr>
          <a:xfrm>
            <a:off x="7899400" y="5029200"/>
            <a:ext cx="1778000" cy="711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0F2A43"/>
                </a:solidFill>
              </a:rPr>
              <a:t>Email</a:t>
            </a:r>
          </a:p>
          <a:p>
            <a:pPr algn="ctr">
              <a:buNone/>
            </a:pPr>
            <a:r>
              <a:rPr lang="en-US" sz="1100" dirty="0">
                <a:solidFill>
                  <a:srgbClr val="5B7186"/>
                </a:solidFill>
              </a:rPr>
              <a:t>Ảnh · Hóa đơn · OTP</a:t>
            </a:r>
          </a:p>
        </p:txBody>
      </p:sp>
      <p:sp>
        <p:nvSpPr>
          <p:cNvPr id="325" name="b325"/>
          <p:cNvSpPr/>
          <p:nvPr/>
        </p:nvSpPr>
        <p:spPr>
          <a:xfrm>
            <a:off x="9804400" y="5029200"/>
            <a:ext cx="1778000" cy="71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6B6D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26" name="t326"/>
          <p:cNvSpPr txBox="1"/>
          <p:nvPr/>
        </p:nvSpPr>
        <p:spPr>
          <a:xfrm>
            <a:off x="9804400" y="5029200"/>
            <a:ext cx="1778000" cy="711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rm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0F2A43"/>
                </a:solidFill>
              </a:rPr>
              <a:t>Google OAuth</a:t>
            </a:r>
          </a:p>
          <a:p>
            <a:pPr algn="ctr">
              <a:buNone/>
            </a:pPr>
            <a:r>
              <a:rPr lang="en-US" sz="1100" dirty="0">
                <a:solidFill>
                  <a:srgbClr val="5B7186"/>
                </a:solidFill>
              </a:rPr>
              <a:t>Đăng nhập</a:t>
            </a:r>
          </a:p>
        </p:txBody>
      </p:sp>
      <p:sp>
        <p:nvSpPr>
          <p:cNvPr id="380" name="extBus"/>
          <p:cNvSpPr/>
          <p:nvPr/>
        </p:nvSpPr>
        <p:spPr>
          <a:xfrm>
            <a:off x="6883400" y="4953000"/>
            <a:ext cx="38100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81" name="tick0"/>
          <p:cNvSpPr/>
          <p:nvPr/>
        </p:nvSpPr>
        <p:spPr>
          <a:xfrm>
            <a:off x="6864350" y="4953000"/>
            <a:ext cx="38100" cy="762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82" name="tick1"/>
          <p:cNvSpPr/>
          <p:nvPr/>
        </p:nvSpPr>
        <p:spPr>
          <a:xfrm>
            <a:off x="10674350" y="4953000"/>
            <a:ext cx="38100" cy="762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4210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633B6-C46E-D1DB-5193-53B529E3A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Công nghệ sử dụng (Tech stack)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8159CD3-E8CA-446B-B768-94D9180856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672823"/>
              </p:ext>
            </p:extLst>
          </p:nvPr>
        </p:nvGraphicFramePr>
        <p:xfrm>
          <a:off x="609600" y="1905000"/>
          <a:ext cx="10972800" cy="41910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7000">
                  <a:extLst>
                    <a:ext uri="{9D8B030D-6E8A-4147-A177-3AD203B41FA5}">
                      <a16:colId xmlns:a16="http://schemas.microsoft.com/office/drawing/2014/main" val="2677096013"/>
                    </a:ext>
                  </a:extLst>
                </a:gridCol>
                <a:gridCol w="8305800">
                  <a:extLst>
                    <a:ext uri="{9D8B030D-6E8A-4147-A177-3AD203B41FA5}">
                      <a16:colId xmlns:a16="http://schemas.microsoft.com/office/drawing/2014/main" val="2198288715"/>
                    </a:ext>
                  </a:extLst>
                </a:gridCol>
              </a:tblGrid>
              <a:tr h="465667"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FFFFFF"/>
                          </a:solidFill>
                        </a:rPr>
                        <a:t>Lớp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FFFFFF"/>
                          </a:solidFill>
                        </a:rPr>
                        <a:t>Công nghệ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4671551"/>
                  </a:ext>
                </a:extLst>
              </a:tr>
              <a:tr h="465667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1F3B52"/>
                          </a:solidFill>
                        </a:rPr>
                        <a:t>Frontend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1F3B52"/>
                          </a:solidFill>
                        </a:rPr>
                        <a:t>React 19, Vite, React Router 7, Axios, Bootstrap 5.3, Font Awesome, SignalR client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0508143"/>
                  </a:ext>
                </a:extLst>
              </a:tr>
              <a:tr h="465667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1F3B52"/>
                          </a:solidFill>
                        </a:rPr>
                        <a:t>Backend</a:t>
                      </a:r>
                    </a:p>
                  </a:txBody>
                  <a:tcPr anchor="ctr"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1F3B52"/>
                          </a:solidFill>
                        </a:rPr>
                        <a:t>ASP.NET Core Web API (.NET), C#</a:t>
                      </a:r>
                    </a:p>
                  </a:txBody>
                  <a:tcPr anchor="ctr">
                    <a:solidFill>
                      <a:srgbClr val="EA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7769127"/>
                  </a:ext>
                </a:extLst>
              </a:tr>
              <a:tr h="465667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1F3B52"/>
                          </a:solidFill>
                        </a:rPr>
                        <a:t>Truy cập dữ liệu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1F3B52"/>
                          </a:solidFill>
                        </a:rPr>
                        <a:t>Entity Framework Core + Npgsql (PostgreSQL)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2409272"/>
                  </a:ext>
                </a:extLst>
              </a:tr>
              <a:tr h="465667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1F3B52"/>
                          </a:solidFill>
                        </a:rPr>
                        <a:t>Real-time</a:t>
                      </a:r>
                    </a:p>
                  </a:txBody>
                  <a:tcPr anchor="ctr"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1F3B52"/>
                          </a:solidFill>
                        </a:rPr>
                        <a:t>SignalR (BookingHub)</a:t>
                      </a:r>
                    </a:p>
                  </a:txBody>
                  <a:tcPr anchor="ctr">
                    <a:solidFill>
                      <a:srgbClr val="EA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2212783"/>
                  </a:ext>
                </a:extLst>
              </a:tr>
              <a:tr h="465667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1F3B52"/>
                          </a:solidFill>
                        </a:rPr>
                        <a:t>Tự động hóa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1F3B52"/>
                          </a:solidFill>
                        </a:rPr>
                        <a:t>Hosted Background Service (chạy nền quy trình rửa xe)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3739195"/>
                  </a:ext>
                </a:extLst>
              </a:tr>
              <a:tr h="465667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1F3B52"/>
                          </a:solidFill>
                        </a:rPr>
                        <a:t>Xác thực</a:t>
                      </a:r>
                    </a:p>
                  </a:txBody>
                  <a:tcPr anchor="ctr"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1F3B52"/>
                          </a:solidFill>
                        </a:rPr>
                        <a:t>Session-based auth, OTP (SĐT), Google OAuth</a:t>
                      </a:r>
                    </a:p>
                  </a:txBody>
                  <a:tcPr anchor="ctr">
                    <a:solidFill>
                      <a:srgbClr val="EA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516609"/>
                  </a:ext>
                </a:extLst>
              </a:tr>
              <a:tr h="465667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1F3B52"/>
                          </a:solidFill>
                        </a:rPr>
                        <a:t>Thanh toán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1F3B52"/>
                          </a:solidFill>
                        </a:rPr>
                        <a:t>PayOS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4726610"/>
                  </a:ext>
                </a:extLst>
              </a:tr>
              <a:tr h="465667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1F3B52"/>
                          </a:solidFill>
                        </a:rPr>
                        <a:t>CSDL</a:t>
                      </a:r>
                    </a:p>
                  </a:txBody>
                  <a:tcPr anchor="ctr"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1F3B52"/>
                          </a:solidFill>
                        </a:rPr>
                        <a:t>PostgreSQL (Supabase)</a:t>
                      </a:r>
                    </a:p>
                  </a:txBody>
                  <a:tcPr anchor="ctr">
                    <a:solidFill>
                      <a:srgbClr val="EA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96879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576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AB4CC-2656-9F76-3D0C-E962B5F03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Sơ đồ ngữ cảnh (Context Diagram)</a:t>
            </a:r>
            <a:endParaRPr lang="en-US"/>
          </a:p>
        </p:txBody>
      </p:sp>
      <p:sp>
        <p:nvSpPr>
          <p:cNvPr id="401" name="b401"/>
          <p:cNvSpPr/>
          <p:nvPr/>
        </p:nvSpPr>
        <p:spPr>
          <a:xfrm>
            <a:off x="4927600" y="2413000"/>
            <a:ext cx="2489200" cy="34544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5875">
            <a:solidFill>
              <a:srgbClr val="1E40AF"/>
            </a:solidFill>
          </a:ln>
        </p:spPr>
        <p:txBody>
          <a:bodyPr lIns="72000" tIns="27432" rIns="72000" bIns="27432" anchor="ctr"/>
          <a:lstStyle/>
          <a:p>
            <a:endParaRPr lang="en-US"/>
          </a:p>
        </p:txBody>
      </p:sp>
      <p:sp>
        <p:nvSpPr>
          <p:cNvPr id="402" name="t402"/>
          <p:cNvSpPr txBox="1"/>
          <p:nvPr/>
        </p:nvSpPr>
        <p:spPr>
          <a:xfrm>
            <a:off x="4927600" y="2413000"/>
            <a:ext cx="2489200" cy="3454400"/>
          </a:xfrm>
          <a:prstGeom prst="rect">
            <a:avLst/>
          </a:prstGeom>
          <a:noFill/>
        </p:spPr>
        <p:txBody>
          <a:bodyPr wrap="square" lIns="72000" tIns="18288" rIns="72000" bIns="18288" anchor="ctr">
            <a:normAutofit/>
          </a:bodyPr>
          <a:lstStyle/>
          <a:p>
            <a:pPr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AutoWash Pro</a:t>
            </a:r>
          </a:p>
          <a:p>
            <a:pPr algn="ctr">
              <a:buNone/>
            </a:pPr>
            <a:endParaRPr lang="en-US" sz="800"/>
          </a:p>
          <a:p>
            <a:pPr algn="ctr">
              <a:buNone/>
            </a:pPr>
            <a:r>
              <a:rPr lang="en-US" sz="1400" dirty="0">
                <a:solidFill>
                  <a:srgbClr val="DBEAFE"/>
                </a:solidFill>
              </a:rPr>
              <a:t>Hệ thống quản lý rửa xe</a:t>
            </a:r>
          </a:p>
        </p:txBody>
      </p:sp>
      <p:sp>
        <p:nvSpPr>
          <p:cNvPr id="403" name="b403"/>
          <p:cNvSpPr/>
          <p:nvPr/>
        </p:nvSpPr>
        <p:spPr>
          <a:xfrm>
            <a:off x="508000" y="2413000"/>
            <a:ext cx="2667000" cy="863600"/>
          </a:xfrm>
          <a:prstGeom prst="roundRect">
            <a:avLst>
              <a:gd name="adj" fmla="val 8000"/>
            </a:avLst>
          </a:prstGeom>
          <a:solidFill>
            <a:srgbClr val="F0F7FC"/>
          </a:solidFill>
          <a:ln w="15875">
            <a:solidFill>
              <a:srgbClr val="0EA5E9"/>
            </a:solidFill>
          </a:ln>
        </p:spPr>
        <p:txBody>
          <a:bodyPr lIns="72000" tIns="27432" rIns="72000" bIns="27432" anchor="ctr"/>
          <a:lstStyle/>
          <a:p>
            <a:endParaRPr lang="en-US"/>
          </a:p>
        </p:txBody>
      </p:sp>
      <p:sp>
        <p:nvSpPr>
          <p:cNvPr id="404" name="t404"/>
          <p:cNvSpPr txBox="1"/>
          <p:nvPr/>
        </p:nvSpPr>
        <p:spPr>
          <a:xfrm>
            <a:off x="508000" y="2413000"/>
            <a:ext cx="2667000" cy="863600"/>
          </a:xfrm>
          <a:prstGeom prst="rect">
            <a:avLst/>
          </a:prstGeom>
          <a:noFill/>
        </p:spPr>
        <p:txBody>
          <a:bodyPr wrap="square" lIns="72000" tIns="18288" rIns="72000" bIns="18288" anchor="ctr">
            <a:norm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0369A1"/>
                </a:solidFill>
              </a:rPr>
              <a:t>Khách vãng lai</a:t>
            </a:r>
          </a:p>
          <a:p>
            <a:pPr algn="ctr">
              <a:buNone/>
            </a:pPr>
            <a:r>
              <a:rPr lang="en-US" sz="1200" dirty="0">
                <a:solidFill>
                  <a:srgbClr val="5B7186"/>
                </a:solidFill>
              </a:rPr>
              <a:t>Trang chủ · Đăng ký / Đăng nhập</a:t>
            </a:r>
          </a:p>
        </p:txBody>
      </p:sp>
      <p:sp>
        <p:nvSpPr>
          <p:cNvPr id="405" name="ar405"/>
          <p:cNvSpPr/>
          <p:nvPr/>
        </p:nvSpPr>
        <p:spPr>
          <a:xfrm>
            <a:off x="3200400" y="2743200"/>
            <a:ext cx="1574800" cy="203200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6" name="b406"/>
          <p:cNvSpPr/>
          <p:nvPr/>
        </p:nvSpPr>
        <p:spPr>
          <a:xfrm>
            <a:off x="508000" y="3479800"/>
            <a:ext cx="2667000" cy="863600"/>
          </a:xfrm>
          <a:prstGeom prst="roundRect">
            <a:avLst>
              <a:gd name="adj" fmla="val 8000"/>
            </a:avLst>
          </a:prstGeom>
          <a:solidFill>
            <a:srgbClr val="F0F7FC"/>
          </a:solidFill>
          <a:ln w="15875">
            <a:solidFill>
              <a:srgbClr val="0EA5E9"/>
            </a:solidFill>
          </a:ln>
        </p:spPr>
        <p:txBody>
          <a:bodyPr lIns="72000" tIns="27432" rIns="72000" bIns="27432" anchor="ctr"/>
          <a:lstStyle/>
          <a:p>
            <a:endParaRPr lang="en-US"/>
          </a:p>
        </p:txBody>
      </p:sp>
      <p:sp>
        <p:nvSpPr>
          <p:cNvPr id="407" name="t407"/>
          <p:cNvSpPr txBox="1"/>
          <p:nvPr/>
        </p:nvSpPr>
        <p:spPr>
          <a:xfrm>
            <a:off x="508000" y="3479800"/>
            <a:ext cx="2667000" cy="863600"/>
          </a:xfrm>
          <a:prstGeom prst="rect">
            <a:avLst/>
          </a:prstGeom>
          <a:noFill/>
        </p:spPr>
        <p:txBody>
          <a:bodyPr wrap="square" lIns="72000" tIns="18288" rIns="72000" bIns="18288" anchor="ctr">
            <a:norm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0369A1"/>
                </a:solidFill>
              </a:rPr>
              <a:t>Khách hàng</a:t>
            </a:r>
          </a:p>
          <a:p>
            <a:pPr algn="ctr">
              <a:buNone/>
            </a:pPr>
            <a:r>
              <a:rPr lang="en-US" sz="1200" dirty="0">
                <a:solidFill>
                  <a:srgbClr val="5B7186"/>
                </a:solidFill>
              </a:rPr>
              <a:t>Đặt lịch · Theo dõi · Thanh toán · Tích điểm · Đánh giá</a:t>
            </a:r>
          </a:p>
        </p:txBody>
      </p:sp>
      <p:sp>
        <p:nvSpPr>
          <p:cNvPr id="408" name="ar408"/>
          <p:cNvSpPr/>
          <p:nvPr/>
        </p:nvSpPr>
        <p:spPr>
          <a:xfrm>
            <a:off x="3200400" y="3810000"/>
            <a:ext cx="1574800" cy="203200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9" name="b409"/>
          <p:cNvSpPr/>
          <p:nvPr/>
        </p:nvSpPr>
        <p:spPr>
          <a:xfrm>
            <a:off x="508000" y="4546600"/>
            <a:ext cx="2667000" cy="863600"/>
          </a:xfrm>
          <a:prstGeom prst="roundRect">
            <a:avLst>
              <a:gd name="adj" fmla="val 8000"/>
            </a:avLst>
          </a:prstGeom>
          <a:solidFill>
            <a:srgbClr val="F0F7FC"/>
          </a:solidFill>
          <a:ln w="15875">
            <a:solidFill>
              <a:srgbClr val="0EA5E9"/>
            </a:solidFill>
          </a:ln>
        </p:spPr>
        <p:txBody>
          <a:bodyPr lIns="72000" tIns="27432" rIns="72000" bIns="27432" anchor="ctr"/>
          <a:lstStyle/>
          <a:p>
            <a:endParaRPr lang="en-US"/>
          </a:p>
        </p:txBody>
      </p:sp>
      <p:sp>
        <p:nvSpPr>
          <p:cNvPr id="410" name="t410"/>
          <p:cNvSpPr txBox="1"/>
          <p:nvPr/>
        </p:nvSpPr>
        <p:spPr>
          <a:xfrm>
            <a:off x="508000" y="4546600"/>
            <a:ext cx="2667000" cy="863600"/>
          </a:xfrm>
          <a:prstGeom prst="rect">
            <a:avLst/>
          </a:prstGeom>
          <a:noFill/>
        </p:spPr>
        <p:txBody>
          <a:bodyPr wrap="square" lIns="72000" tIns="18288" rIns="72000" bIns="18288" anchor="ctr">
            <a:norm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0369A1"/>
                </a:solidFill>
              </a:rPr>
              <a:t>Nhân viên</a:t>
            </a:r>
          </a:p>
          <a:p>
            <a:pPr algn="ctr">
              <a:buNone/>
            </a:pPr>
            <a:r>
              <a:rPr lang="en-US" sz="1200" dirty="0">
                <a:solidFill>
                  <a:srgbClr val="5B7186"/>
                </a:solidFill>
              </a:rPr>
              <a:t>Hàng chờ · Check-in · Xử lý booking</a:t>
            </a:r>
          </a:p>
        </p:txBody>
      </p:sp>
      <p:sp>
        <p:nvSpPr>
          <p:cNvPr id="411" name="ar411"/>
          <p:cNvSpPr/>
          <p:nvPr/>
        </p:nvSpPr>
        <p:spPr>
          <a:xfrm>
            <a:off x="3200400" y="4876800"/>
            <a:ext cx="1574800" cy="203200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2" name="b412"/>
          <p:cNvSpPr/>
          <p:nvPr/>
        </p:nvSpPr>
        <p:spPr>
          <a:xfrm>
            <a:off x="508000" y="5613400"/>
            <a:ext cx="2667000" cy="863600"/>
          </a:xfrm>
          <a:prstGeom prst="roundRect">
            <a:avLst>
              <a:gd name="adj" fmla="val 8000"/>
            </a:avLst>
          </a:prstGeom>
          <a:solidFill>
            <a:srgbClr val="F0F7FC"/>
          </a:solidFill>
          <a:ln w="15875">
            <a:solidFill>
              <a:srgbClr val="0EA5E9"/>
            </a:solidFill>
          </a:ln>
        </p:spPr>
        <p:txBody>
          <a:bodyPr lIns="72000" tIns="27432" rIns="72000" bIns="27432" anchor="ctr"/>
          <a:lstStyle/>
          <a:p>
            <a:endParaRPr lang="en-US"/>
          </a:p>
        </p:txBody>
      </p:sp>
      <p:sp>
        <p:nvSpPr>
          <p:cNvPr id="413" name="t413"/>
          <p:cNvSpPr txBox="1"/>
          <p:nvPr/>
        </p:nvSpPr>
        <p:spPr>
          <a:xfrm>
            <a:off x="508000" y="5613400"/>
            <a:ext cx="2667000" cy="863600"/>
          </a:xfrm>
          <a:prstGeom prst="rect">
            <a:avLst/>
          </a:prstGeom>
          <a:noFill/>
        </p:spPr>
        <p:txBody>
          <a:bodyPr wrap="square" lIns="72000" tIns="18288" rIns="72000" bIns="18288" anchor="ctr">
            <a:norm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0369A1"/>
                </a:solidFill>
              </a:rPr>
              <a:t>Quản trị viên</a:t>
            </a:r>
          </a:p>
          <a:p>
            <a:pPr algn="ctr">
              <a:buNone/>
            </a:pPr>
            <a:r>
              <a:rPr lang="en-US" sz="1200" dirty="0">
                <a:solidFill>
                  <a:srgbClr val="5B7186"/>
                </a:solidFill>
              </a:rPr>
              <a:t>Quản trị · Cấu hình · Báo cáo</a:t>
            </a:r>
          </a:p>
        </p:txBody>
      </p:sp>
      <p:sp>
        <p:nvSpPr>
          <p:cNvPr id="414" name="ar414"/>
          <p:cNvSpPr/>
          <p:nvPr/>
        </p:nvSpPr>
        <p:spPr>
          <a:xfrm>
            <a:off x="3200400" y="5943600"/>
            <a:ext cx="1574800" cy="203200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5" name="b415"/>
          <p:cNvSpPr/>
          <p:nvPr/>
        </p:nvSpPr>
        <p:spPr>
          <a:xfrm>
            <a:off x="9042400" y="2489200"/>
            <a:ext cx="2641600" cy="914400"/>
          </a:xfrm>
          <a:prstGeom prst="roundRect">
            <a:avLst>
              <a:gd name="adj" fmla="val 8000"/>
            </a:avLst>
          </a:prstGeom>
          <a:solidFill>
            <a:srgbClr val="ECFEFF"/>
          </a:solidFill>
          <a:ln w="15875">
            <a:solidFill>
              <a:srgbClr val="06B6D4"/>
            </a:solidFill>
          </a:ln>
        </p:spPr>
        <p:txBody>
          <a:bodyPr lIns="72000" tIns="27432" rIns="72000" bIns="27432" anchor="ctr"/>
          <a:lstStyle/>
          <a:p>
            <a:endParaRPr lang="en-US"/>
          </a:p>
        </p:txBody>
      </p:sp>
      <p:sp>
        <p:nvSpPr>
          <p:cNvPr id="416" name="t416"/>
          <p:cNvSpPr txBox="1"/>
          <p:nvPr/>
        </p:nvSpPr>
        <p:spPr>
          <a:xfrm>
            <a:off x="9042400" y="2489200"/>
            <a:ext cx="2641600" cy="914400"/>
          </a:xfrm>
          <a:prstGeom prst="rect">
            <a:avLst/>
          </a:prstGeom>
          <a:noFill/>
        </p:spPr>
        <p:txBody>
          <a:bodyPr wrap="square" lIns="72000" tIns="18288" rIns="72000" bIns="18288" anchor="ctr">
            <a:norm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0891B2"/>
                </a:solidFill>
              </a:rPr>
              <a:t>PayOS</a:t>
            </a:r>
          </a:p>
          <a:p>
            <a:pPr algn="ctr">
              <a:buNone/>
            </a:pPr>
            <a:r>
              <a:rPr lang="en-US" sz="1200" dirty="0">
                <a:solidFill>
                  <a:srgbClr val="5B7186"/>
                </a:solidFill>
              </a:rPr>
              <a:t>Cổng thanh toán</a:t>
            </a:r>
          </a:p>
        </p:txBody>
      </p:sp>
      <p:sp>
        <p:nvSpPr>
          <p:cNvPr id="417" name="ar417"/>
          <p:cNvSpPr/>
          <p:nvPr/>
        </p:nvSpPr>
        <p:spPr>
          <a:xfrm>
            <a:off x="7467600" y="2844800"/>
            <a:ext cx="1549400" cy="203200"/>
          </a:xfrm>
          <a:prstGeom prst="leftRightArrow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8" name="b418"/>
          <p:cNvSpPr/>
          <p:nvPr/>
        </p:nvSpPr>
        <p:spPr>
          <a:xfrm>
            <a:off x="9042400" y="3810000"/>
            <a:ext cx="2641600" cy="914400"/>
          </a:xfrm>
          <a:prstGeom prst="roundRect">
            <a:avLst>
              <a:gd name="adj" fmla="val 8000"/>
            </a:avLst>
          </a:prstGeom>
          <a:solidFill>
            <a:srgbClr val="ECFEFF"/>
          </a:solidFill>
          <a:ln w="15875">
            <a:solidFill>
              <a:srgbClr val="06B6D4"/>
            </a:solidFill>
          </a:ln>
        </p:spPr>
        <p:txBody>
          <a:bodyPr lIns="72000" tIns="27432" rIns="72000" bIns="27432" anchor="ctr"/>
          <a:lstStyle/>
          <a:p>
            <a:endParaRPr lang="en-US"/>
          </a:p>
        </p:txBody>
      </p:sp>
      <p:sp>
        <p:nvSpPr>
          <p:cNvPr id="419" name="t419"/>
          <p:cNvSpPr txBox="1"/>
          <p:nvPr/>
        </p:nvSpPr>
        <p:spPr>
          <a:xfrm>
            <a:off x="9042400" y="3810000"/>
            <a:ext cx="2641600" cy="914400"/>
          </a:xfrm>
          <a:prstGeom prst="rect">
            <a:avLst/>
          </a:prstGeom>
          <a:noFill/>
        </p:spPr>
        <p:txBody>
          <a:bodyPr wrap="square" lIns="72000" tIns="18288" rIns="72000" bIns="18288" anchor="ctr">
            <a:norm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0891B2"/>
                </a:solidFill>
              </a:rPr>
              <a:t>Dịch vụ Email</a:t>
            </a:r>
          </a:p>
          <a:p>
            <a:pPr algn="ctr">
              <a:buNone/>
            </a:pPr>
            <a:r>
              <a:rPr lang="en-US" sz="1200" dirty="0">
                <a:solidFill>
                  <a:srgbClr val="5B7186"/>
                </a:solidFill>
              </a:rPr>
              <a:t>Ảnh xe · Hóa đơn · OTP</a:t>
            </a:r>
          </a:p>
        </p:txBody>
      </p:sp>
      <p:sp>
        <p:nvSpPr>
          <p:cNvPr id="420" name="ar420"/>
          <p:cNvSpPr/>
          <p:nvPr/>
        </p:nvSpPr>
        <p:spPr>
          <a:xfrm>
            <a:off x="7467600" y="4165600"/>
            <a:ext cx="1549400" cy="203200"/>
          </a:xfrm>
          <a:prstGeom prst="rightArrow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1" name="b421"/>
          <p:cNvSpPr/>
          <p:nvPr/>
        </p:nvSpPr>
        <p:spPr>
          <a:xfrm>
            <a:off x="9042400" y="5130800"/>
            <a:ext cx="2641600" cy="914400"/>
          </a:xfrm>
          <a:prstGeom prst="roundRect">
            <a:avLst>
              <a:gd name="adj" fmla="val 8000"/>
            </a:avLst>
          </a:prstGeom>
          <a:solidFill>
            <a:srgbClr val="ECFEFF"/>
          </a:solidFill>
          <a:ln w="15875">
            <a:solidFill>
              <a:srgbClr val="06B6D4"/>
            </a:solidFill>
          </a:ln>
        </p:spPr>
        <p:txBody>
          <a:bodyPr lIns="72000" tIns="27432" rIns="72000" bIns="27432" anchor="ctr"/>
          <a:lstStyle/>
          <a:p>
            <a:endParaRPr lang="en-US"/>
          </a:p>
        </p:txBody>
      </p:sp>
      <p:sp>
        <p:nvSpPr>
          <p:cNvPr id="422" name="t422"/>
          <p:cNvSpPr txBox="1"/>
          <p:nvPr/>
        </p:nvSpPr>
        <p:spPr>
          <a:xfrm>
            <a:off x="9042400" y="5130800"/>
            <a:ext cx="2641600" cy="914400"/>
          </a:xfrm>
          <a:prstGeom prst="rect">
            <a:avLst/>
          </a:prstGeom>
          <a:noFill/>
        </p:spPr>
        <p:txBody>
          <a:bodyPr wrap="square" lIns="72000" tIns="18288" rIns="72000" bIns="18288" anchor="ctr">
            <a:norm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0891B2"/>
                </a:solidFill>
              </a:rPr>
              <a:t>Google OAuth</a:t>
            </a:r>
          </a:p>
          <a:p>
            <a:pPr algn="ctr">
              <a:buNone/>
            </a:pPr>
            <a:r>
              <a:rPr lang="en-US" sz="1200" dirty="0">
                <a:solidFill>
                  <a:srgbClr val="5B7186"/>
                </a:solidFill>
              </a:rPr>
              <a:t>Xác thực đăng nhập</a:t>
            </a:r>
          </a:p>
        </p:txBody>
      </p:sp>
      <p:sp>
        <p:nvSpPr>
          <p:cNvPr id="423" name="ar423"/>
          <p:cNvSpPr/>
          <p:nvPr/>
        </p:nvSpPr>
        <p:spPr>
          <a:xfrm>
            <a:off x="7467600" y="5486400"/>
            <a:ext cx="1549400" cy="203200"/>
          </a:xfrm>
          <a:prstGeom prst="rightArrow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5184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6EE0B-0118-EA2A-E1E2-01F56DF4E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Tác nhân của hệ thống (Actors)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FB3C33C-6A9A-46A0-B3C7-01E898807F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4739070"/>
              </p:ext>
            </p:extLst>
          </p:nvPr>
        </p:nvGraphicFramePr>
        <p:xfrm>
          <a:off x="609600" y="1905000"/>
          <a:ext cx="10972800" cy="3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1192615475"/>
                    </a:ext>
                  </a:extLst>
                </a:gridCol>
                <a:gridCol w="2159000">
                  <a:extLst>
                    <a:ext uri="{9D8B030D-6E8A-4147-A177-3AD203B41FA5}">
                      <a16:colId xmlns:a16="http://schemas.microsoft.com/office/drawing/2014/main" val="717218943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981933051"/>
                    </a:ext>
                  </a:extLst>
                </a:gridCol>
              </a:tblGrid>
              <a:tr h="711200"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FFFFFF"/>
                          </a:solidFill>
                        </a:rPr>
                        <a:t>Tác nhân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FFFFFF"/>
                          </a:solidFill>
                        </a:rPr>
                        <a:t>Quyền truy cập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>
                          <a:solidFill>
                            <a:srgbClr val="FFFFFF"/>
                          </a:solidFill>
                        </a:rPr>
                        <a:t>Chức năng chính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061725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1F3B52"/>
                          </a:solidFill>
                        </a:rPr>
                        <a:t>Khách vãng lai (Guest)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1F3B52"/>
                          </a:solidFill>
                        </a:rPr>
                        <a:t>Không cần đăng nhập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1F3B52"/>
                          </a:solidFill>
                        </a:rPr>
                        <a:t>Xem trang chủ (Landing), đăng ký tài khoản, đăng nhập (OTP / Google)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4525530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1F3B52"/>
                          </a:solidFill>
                        </a:rPr>
                        <a:t>Khách hàng (Customer)</a:t>
                      </a:r>
                    </a:p>
                  </a:txBody>
                  <a:tcPr anchor="ctr"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1F3B52"/>
                          </a:solidFill>
                        </a:rPr>
                        <a:t>/customer/*</a:t>
                      </a:r>
                    </a:p>
                  </a:txBody>
                  <a:tcPr anchor="ctr"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1F3B52"/>
                          </a:solidFill>
                        </a:rPr>
                        <a:t>Đặt lịch, quản lý xe, theo dõi tiến trình real-time, thanh toán, lịch sử, tích điểm, đánh giá, hồ sơ cá nhân</a:t>
                      </a:r>
                    </a:p>
                  </a:txBody>
                  <a:tcPr anchor="ctr">
                    <a:solidFill>
                      <a:srgbClr val="EA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384580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1F3B52"/>
                          </a:solidFill>
                        </a:rPr>
                        <a:t>Nhân viên (Staff)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1F3B52"/>
                          </a:solidFill>
                        </a:rPr>
                        <a:t>/admin/* (giới hạn)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1F3B52"/>
                          </a:solidFill>
                        </a:rPr>
                        <a:t>Quản lý hàng chờ (queue), check-in xe, xử lý các đơn đặt lịch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6727308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solidFill>
                            <a:srgbClr val="1F3B52"/>
                          </a:solidFill>
                        </a:rPr>
                        <a:t>Quản trị viên (Admin)</a:t>
                      </a:r>
                    </a:p>
                  </a:txBody>
                  <a:tcPr anchor="ctr"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1F3B52"/>
                          </a:solidFill>
                        </a:rPr>
                        <a:t>/admin/* (đầy đủ)</a:t>
                      </a:r>
                    </a:p>
                  </a:txBody>
                  <a:tcPr anchor="ctr"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>
                          <a:solidFill>
                            <a:srgbClr val="1F3B52"/>
                          </a:solidFill>
                        </a:rPr>
                        <a:t>Toàn quyền: dashboard/báo cáo, khách hàng, dịch vụ, giao dịch, cấu hình loyalty, duyệt chuyển quyền sở hữu, demo tools</a:t>
                      </a:r>
                    </a:p>
                  </a:txBody>
                  <a:tcPr anchor="ctr">
                    <a:solidFill>
                      <a:srgbClr val="EA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103166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073DFB8-CA8C-48EF-9109-CDAF760C4FB5}"/>
              </a:ext>
            </a:extLst>
          </p:cNvPr>
          <p:cNvSpPr txBox="1"/>
          <p:nvPr/>
        </p:nvSpPr>
        <p:spPr>
          <a:xfrm>
            <a:off x="609600" y="5867400"/>
            <a:ext cx="109728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5B7186"/>
                </a:solidFill>
              </a:rPr>
              <a:t>Phân quyền: ProtectedRoute (frontend) + session-based authorization (backend). Role trong CSDL: Admin = 1, Staff = 2, Customer = 3.</a:t>
            </a:r>
          </a:p>
        </p:txBody>
      </p:sp>
    </p:spTree>
    <p:extLst>
      <p:ext uri="{BB962C8B-B14F-4D97-AF65-F5344CB8AC3E}">
        <p14:creationId xmlns:p14="http://schemas.microsoft.com/office/powerpoint/2010/main" val="29071148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E0FD3-3CFA-683E-151D-12EC908A8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Chức năng cho Khách hàng</a:t>
            </a:r>
          </a:p>
        </p:txBody>
      </p:sp>
      <p:sp>
        <p:nvSpPr>
          <p:cNvPr id="300" name="card300"/>
          <p:cNvSpPr/>
          <p:nvPr/>
        </p:nvSpPr>
        <p:spPr>
          <a:xfrm>
            <a:off x="609600" y="1930400"/>
            <a:ext cx="2590800" cy="198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6F2"/>
            </a:solidFill>
          </a:ln>
          <a:effectLst>
            <a:outerShdw blurRad="50800" dist="20000" dir="5400000" rotWithShape="0">
              <a:srgbClr val="1F3B52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1" name="t301"/>
          <p:cNvSpPr txBox="1"/>
          <p:nvPr/>
        </p:nvSpPr>
        <p:spPr>
          <a:xfrm>
            <a:off x="685800" y="2819400"/>
            <a:ext cx="2438400" cy="406400"/>
          </a:xfrm>
          <a:prstGeom prst="rect">
            <a:avLst/>
          </a:prstGeom>
          <a:noFill/>
        </p:spPr>
        <p:txBody>
          <a:bodyPr wrap="square" lIns="18000" tIns="0" rIns="18000" bIns="0" anchor="t">
            <a:normAutofit/>
          </a:bodyPr>
          <a:lstStyle/>
          <a:p>
            <a:pPr algn="ctr">
              <a:buNone/>
            </a:pPr>
            <a:r>
              <a:rPr lang="en-US" sz="1500" b="1" dirty="0">
                <a:solidFill>
                  <a:srgbClr val="0F2A43"/>
                </a:solidFill>
              </a:rPr>
              <a:t>Xác thực &amp; Tài khoản</a:t>
            </a:r>
          </a:p>
        </p:txBody>
      </p:sp>
      <p:sp>
        <p:nvSpPr>
          <p:cNvPr id="302" name="t302"/>
          <p:cNvSpPr txBox="1"/>
          <p:nvPr/>
        </p:nvSpPr>
        <p:spPr>
          <a:xfrm>
            <a:off x="711200" y="3225800"/>
            <a:ext cx="2387600" cy="635000"/>
          </a:xfrm>
          <a:prstGeom prst="rect">
            <a:avLst/>
          </a:prstGeom>
          <a:noFill/>
        </p:spPr>
        <p:txBody>
          <a:bodyPr wrap="square" lIns="18000" tIns="0" rIns="18000" bIns="0" anchor="t">
            <a:normAutofit/>
          </a:bodyPr>
          <a:lstStyle/>
          <a:p>
            <a:pPr algn="ctr">
              <a:buNone/>
            </a:pPr>
            <a:r>
              <a:rPr lang="en-US" sz="1400" b="0" dirty="0">
                <a:solidFill>
                  <a:srgbClr val="4A6076"/>
                </a:solidFill>
              </a:rPr>
              <a:t>OTP (SĐT), Google OAuth, quản lý hồ sơ</a:t>
            </a:r>
          </a:p>
        </p:txBody>
      </p:sp>
      <p:sp>
        <p:nvSpPr>
          <p:cNvPr id="310" name="card310"/>
          <p:cNvSpPr/>
          <p:nvPr/>
        </p:nvSpPr>
        <p:spPr>
          <a:xfrm>
            <a:off x="3403600" y="1930400"/>
            <a:ext cx="2590800" cy="198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6F2"/>
            </a:solidFill>
          </a:ln>
          <a:effectLst>
            <a:outerShdw blurRad="50800" dist="20000" dir="5400000" rotWithShape="0">
              <a:srgbClr val="1F3B52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1" name="t311"/>
          <p:cNvSpPr txBox="1"/>
          <p:nvPr/>
        </p:nvSpPr>
        <p:spPr>
          <a:xfrm>
            <a:off x="3479800" y="2819400"/>
            <a:ext cx="2438400" cy="406400"/>
          </a:xfrm>
          <a:prstGeom prst="rect">
            <a:avLst/>
          </a:prstGeom>
          <a:noFill/>
        </p:spPr>
        <p:txBody>
          <a:bodyPr wrap="square" lIns="18000" tIns="0" rIns="18000" bIns="0" anchor="t">
            <a:normAutofit/>
          </a:bodyPr>
          <a:lstStyle/>
          <a:p>
            <a:pPr algn="ctr">
              <a:buNone/>
            </a:pPr>
            <a:r>
              <a:rPr lang="en-US" sz="1500" b="1" dirty="0">
                <a:solidFill>
                  <a:srgbClr val="0F2A43"/>
                </a:solidFill>
              </a:rPr>
              <a:t>Quản lý phương tiện</a:t>
            </a:r>
          </a:p>
        </p:txBody>
      </p:sp>
      <p:sp>
        <p:nvSpPr>
          <p:cNvPr id="312" name="t312"/>
          <p:cNvSpPr txBox="1"/>
          <p:nvPr/>
        </p:nvSpPr>
        <p:spPr>
          <a:xfrm>
            <a:off x="3505200" y="3225800"/>
            <a:ext cx="2387600" cy="635000"/>
          </a:xfrm>
          <a:prstGeom prst="rect">
            <a:avLst/>
          </a:prstGeom>
          <a:noFill/>
        </p:spPr>
        <p:txBody>
          <a:bodyPr wrap="square" lIns="18000" tIns="0" rIns="18000" bIns="0" anchor="t">
            <a:normAutofit/>
          </a:bodyPr>
          <a:lstStyle/>
          <a:p>
            <a:pPr algn="ctr">
              <a:buNone/>
            </a:pPr>
            <a:r>
              <a:rPr lang="en-US" sz="1400" b="0" dirty="0">
                <a:solidFill>
                  <a:srgbClr val="4A6076"/>
                </a:solidFill>
              </a:rPr>
              <a:t>Thêm / sửa / xóa xe, nhận diện biển số</a:t>
            </a:r>
          </a:p>
        </p:txBody>
      </p:sp>
      <p:sp>
        <p:nvSpPr>
          <p:cNvPr id="320" name="card320"/>
          <p:cNvSpPr/>
          <p:nvPr/>
        </p:nvSpPr>
        <p:spPr>
          <a:xfrm>
            <a:off x="6197600" y="1930400"/>
            <a:ext cx="2590800" cy="198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6F2"/>
            </a:solidFill>
          </a:ln>
          <a:effectLst>
            <a:outerShdw blurRad="50800" dist="20000" dir="5400000" rotWithShape="0">
              <a:srgbClr val="1F3B52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1" name="t321"/>
          <p:cNvSpPr txBox="1"/>
          <p:nvPr/>
        </p:nvSpPr>
        <p:spPr>
          <a:xfrm>
            <a:off x="6273800" y="2819400"/>
            <a:ext cx="2438400" cy="406400"/>
          </a:xfrm>
          <a:prstGeom prst="rect">
            <a:avLst/>
          </a:prstGeom>
          <a:noFill/>
        </p:spPr>
        <p:txBody>
          <a:bodyPr wrap="square" lIns="18000" tIns="0" rIns="18000" bIns="0" anchor="t">
            <a:normAutofit/>
          </a:bodyPr>
          <a:lstStyle/>
          <a:p>
            <a:pPr algn="ctr">
              <a:buNone/>
            </a:pPr>
            <a:r>
              <a:rPr lang="en-US" sz="1500" b="1" dirty="0">
                <a:solidFill>
                  <a:srgbClr val="0F2A43"/>
                </a:solidFill>
              </a:rPr>
              <a:t>Đặt lịch</a:t>
            </a:r>
          </a:p>
        </p:txBody>
      </p:sp>
      <p:sp>
        <p:nvSpPr>
          <p:cNvPr id="322" name="t322"/>
          <p:cNvSpPr txBox="1"/>
          <p:nvPr/>
        </p:nvSpPr>
        <p:spPr>
          <a:xfrm>
            <a:off x="6299200" y="3225800"/>
            <a:ext cx="2387600" cy="635000"/>
          </a:xfrm>
          <a:prstGeom prst="rect">
            <a:avLst/>
          </a:prstGeom>
          <a:noFill/>
        </p:spPr>
        <p:txBody>
          <a:bodyPr wrap="square" lIns="18000" tIns="0" rIns="18000" bIns="0" anchor="t">
            <a:normAutofit/>
          </a:bodyPr>
          <a:lstStyle/>
          <a:p>
            <a:pPr algn="ctr">
              <a:buNone/>
            </a:pPr>
            <a:r>
              <a:rPr lang="en-US" sz="1400" b="0" dirty="0">
                <a:solidFill>
                  <a:srgbClr val="4A6076"/>
                </a:solidFill>
              </a:rPr>
              <a:t>Chọn xe, dịch vụ, khung giờ; dời &amp; hủy lịch</a:t>
            </a:r>
          </a:p>
        </p:txBody>
      </p:sp>
      <p:sp>
        <p:nvSpPr>
          <p:cNvPr id="330" name="card330"/>
          <p:cNvSpPr/>
          <p:nvPr/>
        </p:nvSpPr>
        <p:spPr>
          <a:xfrm>
            <a:off x="8991600" y="1930400"/>
            <a:ext cx="2590800" cy="198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6F2"/>
            </a:solidFill>
          </a:ln>
          <a:effectLst>
            <a:outerShdw blurRad="50800" dist="20000" dir="5400000" rotWithShape="0">
              <a:srgbClr val="1F3B52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1" name="t331"/>
          <p:cNvSpPr txBox="1"/>
          <p:nvPr/>
        </p:nvSpPr>
        <p:spPr>
          <a:xfrm>
            <a:off x="9067800" y="2819400"/>
            <a:ext cx="2438400" cy="406400"/>
          </a:xfrm>
          <a:prstGeom prst="rect">
            <a:avLst/>
          </a:prstGeom>
          <a:noFill/>
        </p:spPr>
        <p:txBody>
          <a:bodyPr wrap="square" lIns="18000" tIns="0" rIns="18000" bIns="0" anchor="t">
            <a:normAutofit/>
          </a:bodyPr>
          <a:lstStyle/>
          <a:p>
            <a:pPr algn="ctr">
              <a:buNone/>
            </a:pPr>
            <a:r>
              <a:rPr lang="en-US" sz="1500" b="1" dirty="0">
                <a:solidFill>
                  <a:srgbClr val="0F2A43"/>
                </a:solidFill>
              </a:rPr>
              <a:t>Theo dõi real-time</a:t>
            </a:r>
          </a:p>
        </p:txBody>
      </p:sp>
      <p:sp>
        <p:nvSpPr>
          <p:cNvPr id="332" name="t332"/>
          <p:cNvSpPr txBox="1"/>
          <p:nvPr/>
        </p:nvSpPr>
        <p:spPr>
          <a:xfrm>
            <a:off x="9093200" y="3225800"/>
            <a:ext cx="2387600" cy="635000"/>
          </a:xfrm>
          <a:prstGeom prst="rect">
            <a:avLst/>
          </a:prstGeom>
          <a:noFill/>
        </p:spPr>
        <p:txBody>
          <a:bodyPr wrap="square" lIns="18000" tIns="0" rIns="18000" bIns="0" anchor="t">
            <a:normAutofit/>
          </a:bodyPr>
          <a:lstStyle/>
          <a:p>
            <a:pPr algn="ctr">
              <a:buNone/>
            </a:pPr>
            <a:r>
              <a:rPr lang="en-US" sz="1400" b="0" dirty="0">
                <a:solidFill>
                  <a:srgbClr val="4A6076"/>
                </a:solidFill>
              </a:rPr>
              <a:t>Trạng thái xe theo từng bước rửa</a:t>
            </a:r>
          </a:p>
        </p:txBody>
      </p:sp>
      <p:sp>
        <p:nvSpPr>
          <p:cNvPr id="340" name="card340"/>
          <p:cNvSpPr/>
          <p:nvPr/>
        </p:nvSpPr>
        <p:spPr>
          <a:xfrm>
            <a:off x="609600" y="4089400"/>
            <a:ext cx="2590800" cy="198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6F2"/>
            </a:solidFill>
          </a:ln>
          <a:effectLst>
            <a:outerShdw blurRad="50800" dist="20000" dir="5400000" rotWithShape="0">
              <a:srgbClr val="1F3B52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1" name="t341"/>
          <p:cNvSpPr txBox="1"/>
          <p:nvPr/>
        </p:nvSpPr>
        <p:spPr>
          <a:xfrm>
            <a:off x="685800" y="4978400"/>
            <a:ext cx="2438400" cy="406400"/>
          </a:xfrm>
          <a:prstGeom prst="rect">
            <a:avLst/>
          </a:prstGeom>
          <a:noFill/>
        </p:spPr>
        <p:txBody>
          <a:bodyPr wrap="square" lIns="18000" tIns="0" rIns="18000" bIns="0" anchor="t">
            <a:normAutofit/>
          </a:bodyPr>
          <a:lstStyle/>
          <a:p>
            <a:pPr algn="ctr">
              <a:buNone/>
            </a:pPr>
            <a:r>
              <a:rPr lang="en-US" sz="1500" b="1" dirty="0">
                <a:solidFill>
                  <a:srgbClr val="0F2A43"/>
                </a:solidFill>
              </a:rPr>
              <a:t>Thanh toán online</a:t>
            </a:r>
          </a:p>
        </p:txBody>
      </p:sp>
      <p:sp>
        <p:nvSpPr>
          <p:cNvPr id="342" name="t342"/>
          <p:cNvSpPr txBox="1"/>
          <p:nvPr/>
        </p:nvSpPr>
        <p:spPr>
          <a:xfrm>
            <a:off x="711200" y="5384800"/>
            <a:ext cx="2387600" cy="635000"/>
          </a:xfrm>
          <a:prstGeom prst="rect">
            <a:avLst/>
          </a:prstGeom>
          <a:noFill/>
        </p:spPr>
        <p:txBody>
          <a:bodyPr wrap="square" lIns="18000" tIns="0" rIns="18000" bIns="0" anchor="t">
            <a:normAutofit/>
          </a:bodyPr>
          <a:lstStyle/>
          <a:p>
            <a:pPr algn="ctr">
              <a:buNone/>
            </a:pPr>
            <a:r>
              <a:rPr lang="en-US" sz="1400" b="0" dirty="0">
                <a:solidFill>
                  <a:srgbClr val="4A6076"/>
                </a:solidFill>
              </a:rPr>
              <a:t>Qua PayOS, xem kết quả tức thời</a:t>
            </a:r>
          </a:p>
        </p:txBody>
      </p:sp>
      <p:sp>
        <p:nvSpPr>
          <p:cNvPr id="350" name="card350"/>
          <p:cNvSpPr/>
          <p:nvPr/>
        </p:nvSpPr>
        <p:spPr>
          <a:xfrm>
            <a:off x="3403600" y="4089400"/>
            <a:ext cx="2590800" cy="198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6F2"/>
            </a:solidFill>
          </a:ln>
          <a:effectLst>
            <a:outerShdw blurRad="50800" dist="20000" dir="5400000" rotWithShape="0">
              <a:srgbClr val="1F3B52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1" name="t351"/>
          <p:cNvSpPr txBox="1"/>
          <p:nvPr/>
        </p:nvSpPr>
        <p:spPr>
          <a:xfrm>
            <a:off x="3479800" y="4978400"/>
            <a:ext cx="2438400" cy="406400"/>
          </a:xfrm>
          <a:prstGeom prst="rect">
            <a:avLst/>
          </a:prstGeom>
          <a:noFill/>
        </p:spPr>
        <p:txBody>
          <a:bodyPr wrap="square" lIns="18000" tIns="0" rIns="18000" bIns="0" anchor="t">
            <a:normAutofit/>
          </a:bodyPr>
          <a:lstStyle/>
          <a:p>
            <a:pPr algn="ctr">
              <a:buNone/>
            </a:pPr>
            <a:r>
              <a:rPr lang="en-US" sz="1500" b="1" dirty="0">
                <a:solidFill>
                  <a:srgbClr val="0F2A43"/>
                </a:solidFill>
              </a:rPr>
              <a:t>Chương trình Loyalty</a:t>
            </a:r>
          </a:p>
        </p:txBody>
      </p:sp>
      <p:sp>
        <p:nvSpPr>
          <p:cNvPr id="352" name="t352"/>
          <p:cNvSpPr txBox="1"/>
          <p:nvPr/>
        </p:nvSpPr>
        <p:spPr>
          <a:xfrm>
            <a:off x="3505200" y="5384800"/>
            <a:ext cx="2387600" cy="635000"/>
          </a:xfrm>
          <a:prstGeom prst="rect">
            <a:avLst/>
          </a:prstGeom>
          <a:noFill/>
        </p:spPr>
        <p:txBody>
          <a:bodyPr wrap="square" lIns="18000" tIns="0" rIns="18000" bIns="0" anchor="t">
            <a:normAutofit/>
          </a:bodyPr>
          <a:lstStyle/>
          <a:p>
            <a:pPr algn="ctr">
              <a:buNone/>
            </a:pPr>
            <a:r>
              <a:rPr lang="en-US" sz="1400" b="0" dirty="0">
                <a:solidFill>
                  <a:srgbClr val="4A6076"/>
                </a:solidFill>
              </a:rPr>
              <a:t>Tích điểm, thăng hạng, đổi thưởng</a:t>
            </a:r>
          </a:p>
        </p:txBody>
      </p:sp>
      <p:sp>
        <p:nvSpPr>
          <p:cNvPr id="360" name="card360"/>
          <p:cNvSpPr/>
          <p:nvPr/>
        </p:nvSpPr>
        <p:spPr>
          <a:xfrm>
            <a:off x="6197600" y="4089400"/>
            <a:ext cx="2590800" cy="198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E6F2"/>
            </a:solidFill>
          </a:ln>
          <a:effectLst>
            <a:outerShdw blurRad="50800" dist="20000" dir="5400000" rotWithShape="0">
              <a:srgbClr val="1F3B52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1" name="t361"/>
          <p:cNvSpPr txBox="1"/>
          <p:nvPr/>
        </p:nvSpPr>
        <p:spPr>
          <a:xfrm>
            <a:off x="6273800" y="4978400"/>
            <a:ext cx="2438400" cy="406400"/>
          </a:xfrm>
          <a:prstGeom prst="rect">
            <a:avLst/>
          </a:prstGeom>
          <a:noFill/>
        </p:spPr>
        <p:txBody>
          <a:bodyPr wrap="square" lIns="18000" tIns="0" rIns="18000" bIns="0" anchor="t">
            <a:normAutofit/>
          </a:bodyPr>
          <a:lstStyle/>
          <a:p>
            <a:pPr algn="ctr">
              <a:buNone/>
            </a:pPr>
            <a:r>
              <a:rPr lang="en-US" sz="1500" b="1" dirty="0">
                <a:solidFill>
                  <a:srgbClr val="0F2A43"/>
                </a:solidFill>
              </a:rPr>
              <a:t>Lịch sử &amp; Đánh giá</a:t>
            </a:r>
          </a:p>
        </p:txBody>
      </p:sp>
      <p:sp>
        <p:nvSpPr>
          <p:cNvPr id="362" name="t362"/>
          <p:cNvSpPr txBox="1"/>
          <p:nvPr/>
        </p:nvSpPr>
        <p:spPr>
          <a:xfrm>
            <a:off x="6299200" y="5384800"/>
            <a:ext cx="2387600" cy="635000"/>
          </a:xfrm>
          <a:prstGeom prst="rect">
            <a:avLst/>
          </a:prstGeom>
          <a:noFill/>
        </p:spPr>
        <p:txBody>
          <a:bodyPr wrap="square" lIns="18000" tIns="0" rIns="18000" bIns="0" anchor="t">
            <a:normAutofit/>
          </a:bodyPr>
          <a:lstStyle/>
          <a:p>
            <a:pPr algn="ctr">
              <a:buNone/>
            </a:pPr>
            <a:r>
              <a:rPr lang="en-US" sz="1400" b="0" dirty="0">
                <a:solidFill>
                  <a:srgbClr val="4A6076"/>
                </a:solidFill>
              </a:rPr>
              <a:t>Xem lịch sử dịch vụ, gửi đánh giá</a:t>
            </a:r>
          </a:p>
        </p:txBody>
      </p:sp>
      <p:pic>
        <p:nvPicPr>
          <p:cNvPr id="363" name="Graphic 363" descr="Auth shield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25600" y="2133600"/>
            <a:ext cx="558800" cy="558800"/>
          </a:xfrm>
          <a:prstGeom prst="rect">
            <a:avLst/>
          </a:prstGeom>
        </p:spPr>
      </p:pic>
      <p:pic>
        <p:nvPicPr>
          <p:cNvPr id="364" name="Graphic 364" descr="Vehicl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19600" y="2133600"/>
            <a:ext cx="558800" cy="558800"/>
          </a:xfrm>
          <a:prstGeom prst="rect">
            <a:avLst/>
          </a:prstGeom>
        </p:spPr>
      </p:pic>
      <p:pic>
        <p:nvPicPr>
          <p:cNvPr id="365" name="Graphic 365" descr="Calenda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13600" y="2133600"/>
            <a:ext cx="558800" cy="558800"/>
          </a:xfrm>
          <a:prstGeom prst="rect">
            <a:avLst/>
          </a:prstGeom>
        </p:spPr>
      </p:pic>
      <p:pic>
        <p:nvPicPr>
          <p:cNvPr id="366" name="Graphic 366" descr="Real-time clock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07600" y="2133600"/>
            <a:ext cx="558800" cy="558800"/>
          </a:xfrm>
          <a:prstGeom prst="rect">
            <a:avLst/>
          </a:prstGeom>
        </p:spPr>
      </p:pic>
      <p:pic>
        <p:nvPicPr>
          <p:cNvPr id="367" name="Graphic 367" descr="Payment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25600" y="4292600"/>
            <a:ext cx="558800" cy="558800"/>
          </a:xfrm>
          <a:prstGeom prst="rect">
            <a:avLst/>
          </a:prstGeom>
        </p:spPr>
      </p:pic>
      <p:pic>
        <p:nvPicPr>
          <p:cNvPr id="368" name="Graphic 368" descr="Loyalty meda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419600" y="4292600"/>
            <a:ext cx="558800" cy="558800"/>
          </a:xfrm>
          <a:prstGeom prst="rect">
            <a:avLst/>
          </a:prstGeom>
        </p:spPr>
      </p:pic>
      <p:pic>
        <p:nvPicPr>
          <p:cNvPr id="369" name="Graphic 369" descr="Review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213600" y="4292600"/>
            <a:ext cx="558800" cy="55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4034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39930-978E-F0A4-8C43-38AEE88DD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Chức năng cho Nhân viên / Quản trị</a:t>
            </a:r>
          </a:p>
        </p:txBody>
      </p:sp>
      <p:sp>
        <p:nvSpPr>
          <p:cNvPr id="400" name="card400"/>
          <p:cNvSpPr/>
          <p:nvPr/>
        </p:nvSpPr>
        <p:spPr>
          <a:xfrm>
            <a:off x="609600" y="1905000"/>
            <a:ext cx="3479800" cy="132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6F2"/>
            </a:solidFill>
          </a:ln>
          <a:effectLst>
            <a:outerShdw blurRad="50800" dist="20000" dir="5400000" rotWithShape="0">
              <a:srgbClr val="1F3B52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1" name="t401"/>
          <p:cNvSpPr txBox="1"/>
          <p:nvPr/>
        </p:nvSpPr>
        <p:spPr>
          <a:xfrm>
            <a:off x="1498600" y="2184400"/>
            <a:ext cx="24130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500" b="1" dirty="0">
                <a:solidFill>
                  <a:srgbClr val="0F2A43"/>
                </a:solidFill>
              </a:rPr>
              <a:t>Hàng chờ (Queue)</a:t>
            </a:r>
          </a:p>
        </p:txBody>
      </p:sp>
      <p:sp>
        <p:nvSpPr>
          <p:cNvPr id="402" name="t402"/>
          <p:cNvSpPr txBox="1"/>
          <p:nvPr/>
        </p:nvSpPr>
        <p:spPr>
          <a:xfrm>
            <a:off x="1498600" y="2565400"/>
            <a:ext cx="2413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400" b="0" dirty="0">
                <a:solidFill>
                  <a:srgbClr val="4A6076"/>
                </a:solidFill>
              </a:rPr>
              <a:t>Điều phối real-time (SignalR)</a:t>
            </a:r>
          </a:p>
        </p:txBody>
      </p:sp>
      <p:sp>
        <p:nvSpPr>
          <p:cNvPr id="410" name="card410"/>
          <p:cNvSpPr/>
          <p:nvPr/>
        </p:nvSpPr>
        <p:spPr>
          <a:xfrm>
            <a:off x="4356100" y="1905000"/>
            <a:ext cx="3479800" cy="132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6F2"/>
            </a:solidFill>
          </a:ln>
          <a:effectLst>
            <a:outerShdw blurRad="50800" dist="20000" dir="5400000" rotWithShape="0">
              <a:srgbClr val="1F3B52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1" name="t411"/>
          <p:cNvSpPr txBox="1"/>
          <p:nvPr/>
        </p:nvSpPr>
        <p:spPr>
          <a:xfrm>
            <a:off x="5245100" y="2184400"/>
            <a:ext cx="24130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500" b="1" dirty="0">
                <a:solidFill>
                  <a:srgbClr val="0F2A43"/>
                </a:solidFill>
              </a:rPr>
              <a:t>Đơn đặt lịch</a:t>
            </a:r>
          </a:p>
        </p:txBody>
      </p:sp>
      <p:sp>
        <p:nvSpPr>
          <p:cNvPr id="412" name="t412"/>
          <p:cNvSpPr txBox="1"/>
          <p:nvPr/>
        </p:nvSpPr>
        <p:spPr>
          <a:xfrm>
            <a:off x="5245100" y="2565400"/>
            <a:ext cx="2413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400" b="0" dirty="0">
                <a:solidFill>
                  <a:srgbClr val="4A6076"/>
                </a:solidFill>
              </a:rPr>
              <a:t>Xác nhận, audit log, dời lịch</a:t>
            </a:r>
          </a:p>
        </p:txBody>
      </p:sp>
      <p:sp>
        <p:nvSpPr>
          <p:cNvPr id="420" name="card420"/>
          <p:cNvSpPr/>
          <p:nvPr/>
        </p:nvSpPr>
        <p:spPr>
          <a:xfrm>
            <a:off x="8102600" y="1905000"/>
            <a:ext cx="3479800" cy="132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6F2"/>
            </a:solidFill>
          </a:ln>
          <a:effectLst>
            <a:outerShdw blurRad="50800" dist="20000" dir="5400000" rotWithShape="0">
              <a:srgbClr val="1F3B52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1" name="t421"/>
          <p:cNvSpPr txBox="1"/>
          <p:nvPr/>
        </p:nvSpPr>
        <p:spPr>
          <a:xfrm>
            <a:off x="8991600" y="2184400"/>
            <a:ext cx="24130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500" b="1" dirty="0">
                <a:solidFill>
                  <a:srgbClr val="0F2A43"/>
                </a:solidFill>
              </a:rPr>
              <a:t>Khách hàng</a:t>
            </a:r>
          </a:p>
        </p:txBody>
      </p:sp>
      <p:sp>
        <p:nvSpPr>
          <p:cNvPr id="422" name="t422"/>
          <p:cNvSpPr txBox="1"/>
          <p:nvPr/>
        </p:nvSpPr>
        <p:spPr>
          <a:xfrm>
            <a:off x="8991600" y="2565400"/>
            <a:ext cx="2413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400" b="0" dirty="0">
                <a:solidFill>
                  <a:srgbClr val="4A6076"/>
                </a:solidFill>
              </a:rPr>
              <a:t>Danh sách, hạng thành viên</a:t>
            </a:r>
          </a:p>
        </p:txBody>
      </p:sp>
      <p:sp>
        <p:nvSpPr>
          <p:cNvPr id="430" name="card430"/>
          <p:cNvSpPr/>
          <p:nvPr/>
        </p:nvSpPr>
        <p:spPr>
          <a:xfrm>
            <a:off x="609600" y="3429000"/>
            <a:ext cx="3479800" cy="132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6F2"/>
            </a:solidFill>
          </a:ln>
          <a:effectLst>
            <a:outerShdw blurRad="50800" dist="20000" dir="5400000" rotWithShape="0">
              <a:srgbClr val="1F3B52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1" name="t431"/>
          <p:cNvSpPr txBox="1"/>
          <p:nvPr/>
        </p:nvSpPr>
        <p:spPr>
          <a:xfrm>
            <a:off x="1498600" y="3708400"/>
            <a:ext cx="24130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500" b="1" dirty="0">
                <a:solidFill>
                  <a:srgbClr val="0F2A43"/>
                </a:solidFill>
              </a:rPr>
              <a:t>Dịch vụ</a:t>
            </a:r>
          </a:p>
        </p:txBody>
      </p:sp>
      <p:sp>
        <p:nvSpPr>
          <p:cNvPr id="432" name="t432"/>
          <p:cNvSpPr txBox="1"/>
          <p:nvPr/>
        </p:nvSpPr>
        <p:spPr>
          <a:xfrm>
            <a:off x="1498600" y="4089400"/>
            <a:ext cx="2413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400" b="0" dirty="0">
                <a:solidFill>
                  <a:srgbClr val="4A6076"/>
                </a:solidFill>
              </a:rPr>
              <a:t>Danh mục &amp; phân loại</a:t>
            </a:r>
          </a:p>
        </p:txBody>
      </p:sp>
      <p:sp>
        <p:nvSpPr>
          <p:cNvPr id="440" name="card440"/>
          <p:cNvSpPr/>
          <p:nvPr/>
        </p:nvSpPr>
        <p:spPr>
          <a:xfrm>
            <a:off x="4356100" y="3429000"/>
            <a:ext cx="3479800" cy="132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6F2"/>
            </a:solidFill>
          </a:ln>
          <a:effectLst>
            <a:outerShdw blurRad="50800" dist="20000" dir="5400000" rotWithShape="0">
              <a:srgbClr val="1F3B52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1" name="t441"/>
          <p:cNvSpPr txBox="1"/>
          <p:nvPr/>
        </p:nvSpPr>
        <p:spPr>
          <a:xfrm>
            <a:off x="5245100" y="3708400"/>
            <a:ext cx="24130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500" b="1" dirty="0">
                <a:solidFill>
                  <a:srgbClr val="0F2A43"/>
                </a:solidFill>
              </a:rPr>
              <a:t>Giao dịch</a:t>
            </a:r>
          </a:p>
        </p:txBody>
      </p:sp>
      <p:sp>
        <p:nvSpPr>
          <p:cNvPr id="442" name="t442"/>
          <p:cNvSpPr txBox="1"/>
          <p:nvPr/>
        </p:nvSpPr>
        <p:spPr>
          <a:xfrm>
            <a:off x="5245100" y="4089400"/>
            <a:ext cx="2413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400" b="0" dirty="0">
                <a:solidFill>
                  <a:srgbClr val="4A6076"/>
                </a:solidFill>
              </a:rPr>
              <a:t>Theo dõi thanh toán</a:t>
            </a:r>
          </a:p>
        </p:txBody>
      </p:sp>
      <p:sp>
        <p:nvSpPr>
          <p:cNvPr id="450" name="card450"/>
          <p:cNvSpPr/>
          <p:nvPr/>
        </p:nvSpPr>
        <p:spPr>
          <a:xfrm>
            <a:off x="8102600" y="3429000"/>
            <a:ext cx="3479800" cy="132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6F2"/>
            </a:solidFill>
          </a:ln>
          <a:effectLst>
            <a:outerShdw blurRad="50800" dist="20000" dir="5400000" rotWithShape="0">
              <a:srgbClr val="1F3B52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1" name="t451"/>
          <p:cNvSpPr txBox="1"/>
          <p:nvPr/>
        </p:nvSpPr>
        <p:spPr>
          <a:xfrm>
            <a:off x="8991600" y="3708400"/>
            <a:ext cx="24130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500" b="1" dirty="0">
                <a:solidFill>
                  <a:srgbClr val="0F2A43"/>
                </a:solidFill>
              </a:rPr>
              <a:t>Cấu hình Loyalty</a:t>
            </a:r>
          </a:p>
        </p:txBody>
      </p:sp>
      <p:sp>
        <p:nvSpPr>
          <p:cNvPr id="452" name="t452"/>
          <p:cNvSpPr txBox="1"/>
          <p:nvPr/>
        </p:nvSpPr>
        <p:spPr>
          <a:xfrm>
            <a:off x="8991600" y="4089400"/>
            <a:ext cx="2413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400" b="0" dirty="0">
                <a:solidFill>
                  <a:srgbClr val="4A6076"/>
                </a:solidFill>
              </a:rPr>
              <a:t>Hạng, điểm, quyền lợi</a:t>
            </a:r>
          </a:p>
        </p:txBody>
      </p:sp>
      <p:sp>
        <p:nvSpPr>
          <p:cNvPr id="460" name="card460"/>
          <p:cNvSpPr/>
          <p:nvPr/>
        </p:nvSpPr>
        <p:spPr>
          <a:xfrm>
            <a:off x="609600" y="4953000"/>
            <a:ext cx="3479800" cy="132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6F2"/>
            </a:solidFill>
          </a:ln>
          <a:effectLst>
            <a:outerShdw blurRad="50800" dist="20000" dir="5400000" rotWithShape="0">
              <a:srgbClr val="1F3B52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1" name="t461"/>
          <p:cNvSpPr txBox="1"/>
          <p:nvPr/>
        </p:nvSpPr>
        <p:spPr>
          <a:xfrm>
            <a:off x="1498600" y="5232400"/>
            <a:ext cx="24130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500" b="1" dirty="0">
                <a:solidFill>
                  <a:srgbClr val="0F2A43"/>
                </a:solidFill>
              </a:rPr>
              <a:t>Chuyển quyền sở hữu</a:t>
            </a:r>
          </a:p>
        </p:txBody>
      </p:sp>
      <p:sp>
        <p:nvSpPr>
          <p:cNvPr id="462" name="t462"/>
          <p:cNvSpPr txBox="1"/>
          <p:nvPr/>
        </p:nvSpPr>
        <p:spPr>
          <a:xfrm>
            <a:off x="1498600" y="5613400"/>
            <a:ext cx="2413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400" b="0" dirty="0">
                <a:solidFill>
                  <a:srgbClr val="4A6076"/>
                </a:solidFill>
              </a:rPr>
              <a:t>Duyệt yêu cầu + chứng từ</a:t>
            </a:r>
          </a:p>
        </p:txBody>
      </p:sp>
      <p:sp>
        <p:nvSpPr>
          <p:cNvPr id="470" name="card470"/>
          <p:cNvSpPr/>
          <p:nvPr/>
        </p:nvSpPr>
        <p:spPr>
          <a:xfrm>
            <a:off x="4356100" y="4953000"/>
            <a:ext cx="3479800" cy="132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6F2"/>
            </a:solidFill>
          </a:ln>
          <a:effectLst>
            <a:outerShdw blurRad="50800" dist="20000" dir="5400000" rotWithShape="0">
              <a:srgbClr val="1F3B52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1" name="t471"/>
          <p:cNvSpPr txBox="1"/>
          <p:nvPr/>
        </p:nvSpPr>
        <p:spPr>
          <a:xfrm>
            <a:off x="5245100" y="5232400"/>
            <a:ext cx="24130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500" b="1" dirty="0">
                <a:solidFill>
                  <a:srgbClr val="0F2A43"/>
                </a:solidFill>
              </a:rPr>
              <a:t>Dashboard &amp; Báo cáo</a:t>
            </a:r>
          </a:p>
        </p:txBody>
      </p:sp>
      <p:sp>
        <p:nvSpPr>
          <p:cNvPr id="472" name="t472"/>
          <p:cNvSpPr txBox="1"/>
          <p:nvPr/>
        </p:nvSpPr>
        <p:spPr>
          <a:xfrm>
            <a:off x="5245100" y="5613400"/>
            <a:ext cx="2413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400" b="0" dirty="0">
                <a:solidFill>
                  <a:srgbClr val="4A6076"/>
                </a:solidFill>
              </a:rPr>
              <a:t>Thống kê, lọc theo ngày</a:t>
            </a:r>
          </a:p>
        </p:txBody>
      </p:sp>
      <p:sp>
        <p:nvSpPr>
          <p:cNvPr id="480" name="card480"/>
          <p:cNvSpPr/>
          <p:nvPr/>
        </p:nvSpPr>
        <p:spPr>
          <a:xfrm>
            <a:off x="8102600" y="4953000"/>
            <a:ext cx="3479800" cy="132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6F2"/>
            </a:solidFill>
          </a:ln>
          <a:effectLst>
            <a:outerShdw blurRad="50800" dist="20000" dir="5400000" rotWithShape="0">
              <a:srgbClr val="1F3B52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1" name="t481"/>
          <p:cNvSpPr txBox="1"/>
          <p:nvPr/>
        </p:nvSpPr>
        <p:spPr>
          <a:xfrm>
            <a:off x="8991600" y="5232400"/>
            <a:ext cx="2413000" cy="330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500" b="1" dirty="0">
                <a:solidFill>
                  <a:srgbClr val="0F2A43"/>
                </a:solidFill>
              </a:rPr>
              <a:t>Công cụ Demo</a:t>
            </a:r>
          </a:p>
        </p:txBody>
      </p:sp>
      <p:sp>
        <p:nvSpPr>
          <p:cNvPr id="482" name="t482"/>
          <p:cNvSpPr txBox="1"/>
          <p:nvPr/>
        </p:nvSpPr>
        <p:spPr>
          <a:xfrm>
            <a:off x="8991600" y="5613400"/>
            <a:ext cx="2413000" cy="508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400" b="0" dirty="0">
                <a:solidFill>
                  <a:srgbClr val="4A6076"/>
                </a:solidFill>
              </a:rPr>
              <a:t>Chụp ảnh xe qua webcam</a:t>
            </a:r>
          </a:p>
        </p:txBody>
      </p:sp>
      <p:pic>
        <p:nvPicPr>
          <p:cNvPr id="483" name="Graphic 483" descr="Queu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12800" y="2311400"/>
            <a:ext cx="508000" cy="508000"/>
          </a:xfrm>
          <a:prstGeom prst="rect">
            <a:avLst/>
          </a:prstGeom>
        </p:spPr>
      </p:pic>
      <p:pic>
        <p:nvPicPr>
          <p:cNvPr id="484" name="Graphic 484" descr="Booking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59300" y="2311400"/>
            <a:ext cx="508000" cy="508000"/>
          </a:xfrm>
          <a:prstGeom prst="rect">
            <a:avLst/>
          </a:prstGeom>
        </p:spPr>
      </p:pic>
      <p:pic>
        <p:nvPicPr>
          <p:cNvPr id="485" name="Graphic 485" descr="Customer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05800" y="2311400"/>
            <a:ext cx="508000" cy="508000"/>
          </a:xfrm>
          <a:prstGeom prst="rect">
            <a:avLst/>
          </a:prstGeom>
        </p:spPr>
      </p:pic>
      <p:pic>
        <p:nvPicPr>
          <p:cNvPr id="486" name="Graphic 486" descr="Servic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2800" y="3835400"/>
            <a:ext cx="508000" cy="508000"/>
          </a:xfrm>
          <a:prstGeom prst="rect">
            <a:avLst/>
          </a:prstGeom>
        </p:spPr>
      </p:pic>
      <p:pic>
        <p:nvPicPr>
          <p:cNvPr id="487" name="Graphic 487" descr="Transaction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59300" y="3835400"/>
            <a:ext cx="508000" cy="508000"/>
          </a:xfrm>
          <a:prstGeom prst="rect">
            <a:avLst/>
          </a:prstGeom>
        </p:spPr>
      </p:pic>
      <p:pic>
        <p:nvPicPr>
          <p:cNvPr id="488" name="Graphic 488" descr="Loyalty confi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05800" y="3835400"/>
            <a:ext cx="508000" cy="508000"/>
          </a:xfrm>
          <a:prstGeom prst="rect">
            <a:avLst/>
          </a:prstGeom>
        </p:spPr>
      </p:pic>
      <p:pic>
        <p:nvPicPr>
          <p:cNvPr id="489" name="Graphic 489" descr="Ownership transfe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12800" y="5359400"/>
            <a:ext cx="508000" cy="508000"/>
          </a:xfrm>
          <a:prstGeom prst="rect">
            <a:avLst/>
          </a:prstGeom>
        </p:spPr>
      </p:pic>
      <p:pic>
        <p:nvPicPr>
          <p:cNvPr id="490" name="Graphic 490" descr="Dashboard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559300" y="5359400"/>
            <a:ext cx="508000" cy="508000"/>
          </a:xfrm>
          <a:prstGeom prst="rect">
            <a:avLst/>
          </a:prstGeom>
        </p:spPr>
      </p:pic>
      <p:pic>
        <p:nvPicPr>
          <p:cNvPr id="491" name="Graphic 491" descr="Demo tool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305800" y="5359400"/>
            <a:ext cx="508000" cy="5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1488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505E9-C123-65C2-AA53-587383383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Tính năng tự động hóa</a:t>
            </a:r>
          </a:p>
        </p:txBody>
      </p:sp>
      <p:sp>
        <p:nvSpPr>
          <p:cNvPr id="500" name="banner0"/>
          <p:cNvSpPr/>
          <p:nvPr/>
        </p:nvSpPr>
        <p:spPr>
          <a:xfrm>
            <a:off x="609600" y="1968500"/>
            <a:ext cx="10972800" cy="12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6F2"/>
            </a:solidFill>
          </a:ln>
          <a:effectLst>
            <a:outerShdw blurRad="90000" dist="30000" dir="5400000" rotWithShape="0">
              <a:srgbClr val="1F3B52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1" name="c501"/>
          <p:cNvSpPr/>
          <p:nvPr/>
        </p:nvSpPr>
        <p:spPr>
          <a:xfrm>
            <a:off x="914400" y="2197100"/>
            <a:ext cx="812800" cy="8128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2" name="t502"/>
          <p:cNvSpPr txBox="1"/>
          <p:nvPr/>
        </p:nvSpPr>
        <p:spPr>
          <a:xfrm>
            <a:off x="2133600" y="2247900"/>
            <a:ext cx="914400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dirty="0">
                <a:solidFill>
                  <a:srgbClr val="0F2A43"/>
                </a:solidFill>
              </a:rPr>
              <a:t>Quy trình rửa xe tự động</a:t>
            </a:r>
          </a:p>
        </p:txBody>
      </p:sp>
      <p:sp>
        <p:nvSpPr>
          <p:cNvPr id="503" name="t503"/>
          <p:cNvSpPr txBox="1"/>
          <p:nvPr/>
        </p:nvSpPr>
        <p:spPr>
          <a:xfrm>
            <a:off x="2133600" y="2654300"/>
            <a:ext cx="9144000" cy="508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500" b="0" dirty="0">
                <a:solidFill>
                  <a:srgbClr val="3B4E62"/>
                </a:solidFill>
              </a:rPr>
              <a:t>Background service tự động chuyển xe qua từng bước theo thời gian định trước: check-in → rửa → sấy → hoàn tất.</a:t>
            </a:r>
          </a:p>
        </p:txBody>
      </p:sp>
      <p:sp>
        <p:nvSpPr>
          <p:cNvPr id="510" name="banner1"/>
          <p:cNvSpPr/>
          <p:nvPr/>
        </p:nvSpPr>
        <p:spPr>
          <a:xfrm>
            <a:off x="609600" y="3429000"/>
            <a:ext cx="10972800" cy="12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6F2"/>
            </a:solidFill>
          </a:ln>
          <a:effectLst>
            <a:outerShdw blurRad="90000" dist="30000" dir="5400000" rotWithShape="0">
              <a:srgbClr val="1F3B52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1" name="c511"/>
          <p:cNvSpPr/>
          <p:nvPr/>
        </p:nvSpPr>
        <p:spPr>
          <a:xfrm>
            <a:off x="914400" y="3657600"/>
            <a:ext cx="812800" cy="8128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2" name="t512"/>
          <p:cNvSpPr txBox="1"/>
          <p:nvPr/>
        </p:nvSpPr>
        <p:spPr>
          <a:xfrm>
            <a:off x="2133600" y="3708400"/>
            <a:ext cx="914400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dirty="0">
                <a:solidFill>
                  <a:srgbClr val="0F2A43"/>
                </a:solidFill>
              </a:rPr>
              <a:t>Tự động chụp ảnh &amp; gửi mail</a:t>
            </a:r>
          </a:p>
        </p:txBody>
      </p:sp>
      <p:sp>
        <p:nvSpPr>
          <p:cNvPr id="513" name="t513"/>
          <p:cNvSpPr txBox="1"/>
          <p:nvPr/>
        </p:nvSpPr>
        <p:spPr>
          <a:xfrm>
            <a:off x="2133600" y="4114800"/>
            <a:ext cx="9144000" cy="508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500" b="0" dirty="0">
                <a:solidFill>
                  <a:srgbClr val="3B4E62"/>
                </a:solidFill>
              </a:rPr>
              <a:t>Sau khi rửa xong, hệ thống tự chụp ảnh xe và gửi email cho khách trước bước thanh toán.</a:t>
            </a:r>
          </a:p>
        </p:txBody>
      </p:sp>
      <p:sp>
        <p:nvSpPr>
          <p:cNvPr id="520" name="banner2"/>
          <p:cNvSpPr/>
          <p:nvPr/>
        </p:nvSpPr>
        <p:spPr>
          <a:xfrm>
            <a:off x="609600" y="4889500"/>
            <a:ext cx="10972800" cy="12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E6F2"/>
            </a:solidFill>
          </a:ln>
          <a:effectLst>
            <a:outerShdw blurRad="90000" dist="30000" dir="5400000" rotWithShape="0">
              <a:srgbClr val="1F3B52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21" name="c521"/>
          <p:cNvSpPr/>
          <p:nvPr/>
        </p:nvSpPr>
        <p:spPr>
          <a:xfrm>
            <a:off x="914400" y="5118100"/>
            <a:ext cx="812800" cy="8128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2" name="t522"/>
          <p:cNvSpPr txBox="1"/>
          <p:nvPr/>
        </p:nvSpPr>
        <p:spPr>
          <a:xfrm>
            <a:off x="2133600" y="5168900"/>
            <a:ext cx="914400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dirty="0">
                <a:solidFill>
                  <a:srgbClr val="0F2A43"/>
                </a:solidFill>
              </a:rPr>
              <a:t>Thông báo real-time</a:t>
            </a:r>
          </a:p>
        </p:txBody>
      </p:sp>
      <p:sp>
        <p:nvSpPr>
          <p:cNvPr id="523" name="t523"/>
          <p:cNvSpPr txBox="1"/>
          <p:nvPr/>
        </p:nvSpPr>
        <p:spPr>
          <a:xfrm>
            <a:off x="2133600" y="5575300"/>
            <a:ext cx="9144000" cy="508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500" b="0" dirty="0">
                <a:solidFill>
                  <a:srgbClr val="3B4E62"/>
                </a:solidFill>
              </a:rPr>
              <a:t>Đẩy sự kiện booking mới / đổi trạng thái tới màn hình nhân viên qua SignalR.</a:t>
            </a:r>
          </a:p>
        </p:txBody>
      </p:sp>
      <p:pic>
        <p:nvPicPr>
          <p:cNvPr id="524" name="Graphic 524" descr="Automation gear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6800" y="2349500"/>
            <a:ext cx="508000" cy="508000"/>
          </a:xfrm>
          <a:prstGeom prst="rect">
            <a:avLst/>
          </a:prstGeom>
        </p:spPr>
      </p:pic>
      <p:pic>
        <p:nvPicPr>
          <p:cNvPr id="525" name="Graphic 525" descr="Emai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6800" y="3810000"/>
            <a:ext cx="508000" cy="508000"/>
          </a:xfrm>
          <a:prstGeom prst="rect">
            <a:avLst/>
          </a:prstGeom>
        </p:spPr>
      </p:pic>
      <p:pic>
        <p:nvPicPr>
          <p:cNvPr id="526" name="Graphic 526" descr="Notification bel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6800" y="5270500"/>
            <a:ext cx="508000" cy="5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3579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43F85-85CA-4D8F-4EA5-C21873554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Luồng đặt &amp; sử dụng dịch vụ</a:t>
            </a:r>
          </a:p>
        </p:txBody>
      </p:sp>
      <p:sp>
        <p:nvSpPr>
          <p:cNvPr id="600" name="b600"/>
          <p:cNvSpPr/>
          <p:nvPr/>
        </p:nvSpPr>
        <p:spPr>
          <a:xfrm>
            <a:off x="609600" y="2184400"/>
            <a:ext cx="2540000" cy="1168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6E6F2"/>
            </a:solidFill>
          </a:ln>
          <a:effectLst>
            <a:outerShdw blurRad="80000" dist="25000" dir="5400000" rotWithShape="0">
              <a:srgbClr val="1F3B52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1" name="n601"/>
          <p:cNvSpPr/>
          <p:nvPr/>
        </p:nvSpPr>
        <p:spPr>
          <a:xfrm>
            <a:off x="1676400" y="2311400"/>
            <a:ext cx="406400" cy="4064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02" name="l602"/>
          <p:cNvSpPr txBox="1"/>
          <p:nvPr/>
        </p:nvSpPr>
        <p:spPr>
          <a:xfrm>
            <a:off x="711200" y="2743200"/>
            <a:ext cx="2336800" cy="533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400" b="1" dirty="0">
                <a:solidFill>
                  <a:srgbClr val="1F3B52"/>
                </a:solidFill>
              </a:rPr>
              <a:t>Truy cập trang chủ</a:t>
            </a:r>
          </a:p>
        </p:txBody>
      </p:sp>
      <p:sp>
        <p:nvSpPr>
          <p:cNvPr id="603" name="b603"/>
          <p:cNvSpPr/>
          <p:nvPr/>
        </p:nvSpPr>
        <p:spPr>
          <a:xfrm>
            <a:off x="3416300" y="2184400"/>
            <a:ext cx="2540000" cy="1168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6E6F2"/>
            </a:solidFill>
          </a:ln>
          <a:effectLst>
            <a:outerShdw blurRad="80000" dist="25000" dir="5400000" rotWithShape="0">
              <a:srgbClr val="1F3B52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4" name="n604"/>
          <p:cNvSpPr/>
          <p:nvPr/>
        </p:nvSpPr>
        <p:spPr>
          <a:xfrm>
            <a:off x="4483100" y="2311400"/>
            <a:ext cx="406400" cy="4064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05" name="l605"/>
          <p:cNvSpPr txBox="1"/>
          <p:nvPr/>
        </p:nvSpPr>
        <p:spPr>
          <a:xfrm>
            <a:off x="3517900" y="2743200"/>
            <a:ext cx="2336800" cy="533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400" b="1" dirty="0">
                <a:solidFill>
                  <a:srgbClr val="1F3B52"/>
                </a:solidFill>
              </a:rPr>
              <a:t>Đăng ký / Đăng nhập (OTP · Google)</a:t>
            </a:r>
          </a:p>
        </p:txBody>
      </p:sp>
      <p:sp>
        <p:nvSpPr>
          <p:cNvPr id="606" name="b606"/>
          <p:cNvSpPr/>
          <p:nvPr/>
        </p:nvSpPr>
        <p:spPr>
          <a:xfrm>
            <a:off x="6223000" y="2184400"/>
            <a:ext cx="2540000" cy="1168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6E6F2"/>
            </a:solidFill>
          </a:ln>
          <a:effectLst>
            <a:outerShdw blurRad="80000" dist="25000" dir="5400000" rotWithShape="0">
              <a:srgbClr val="1F3B52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7" name="n607"/>
          <p:cNvSpPr/>
          <p:nvPr/>
        </p:nvSpPr>
        <p:spPr>
          <a:xfrm>
            <a:off x="7289800" y="2311400"/>
            <a:ext cx="406400" cy="4064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608" name="l608"/>
          <p:cNvSpPr txBox="1"/>
          <p:nvPr/>
        </p:nvSpPr>
        <p:spPr>
          <a:xfrm>
            <a:off x="6324600" y="2743200"/>
            <a:ext cx="2336800" cy="533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400" b="1" dirty="0">
                <a:solidFill>
                  <a:srgbClr val="1F3B52"/>
                </a:solidFill>
              </a:rPr>
              <a:t>Chọn xe · dịch vụ · khung giờ</a:t>
            </a:r>
          </a:p>
        </p:txBody>
      </p:sp>
      <p:sp>
        <p:nvSpPr>
          <p:cNvPr id="609" name="b609"/>
          <p:cNvSpPr/>
          <p:nvPr/>
        </p:nvSpPr>
        <p:spPr>
          <a:xfrm>
            <a:off x="9029700" y="2184400"/>
            <a:ext cx="2540000" cy="1168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6E6F2"/>
            </a:solidFill>
          </a:ln>
          <a:effectLst>
            <a:outerShdw blurRad="80000" dist="25000" dir="5400000" rotWithShape="0">
              <a:srgbClr val="1F3B52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10" name="n610"/>
          <p:cNvSpPr/>
          <p:nvPr/>
        </p:nvSpPr>
        <p:spPr>
          <a:xfrm>
            <a:off x="10096500" y="2311400"/>
            <a:ext cx="406400" cy="4064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611" name="l611"/>
          <p:cNvSpPr txBox="1"/>
          <p:nvPr/>
        </p:nvSpPr>
        <p:spPr>
          <a:xfrm>
            <a:off x="9131300" y="2743200"/>
            <a:ext cx="2336800" cy="533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400" b="1" dirty="0">
                <a:solidFill>
                  <a:srgbClr val="1F3B52"/>
                </a:solidFill>
              </a:rPr>
              <a:t>Tạo đơn &amp; Thanh toán (PayOS)</a:t>
            </a:r>
          </a:p>
        </p:txBody>
      </p:sp>
      <p:sp>
        <p:nvSpPr>
          <p:cNvPr id="612" name="b612"/>
          <p:cNvSpPr/>
          <p:nvPr/>
        </p:nvSpPr>
        <p:spPr>
          <a:xfrm>
            <a:off x="9029700" y="4343400"/>
            <a:ext cx="2540000" cy="1168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6E6F2"/>
            </a:solidFill>
          </a:ln>
          <a:effectLst>
            <a:outerShdw blurRad="80000" dist="25000" dir="5400000" rotWithShape="0">
              <a:srgbClr val="1F3B52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13" name="n613"/>
          <p:cNvSpPr/>
          <p:nvPr/>
        </p:nvSpPr>
        <p:spPr>
          <a:xfrm>
            <a:off x="10096500" y="4470400"/>
            <a:ext cx="406400" cy="4064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614" name="l614"/>
          <p:cNvSpPr txBox="1"/>
          <p:nvPr/>
        </p:nvSpPr>
        <p:spPr>
          <a:xfrm>
            <a:off x="9131300" y="4902200"/>
            <a:ext cx="2336800" cy="533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400" b="1" dirty="0">
                <a:solidFill>
                  <a:srgbClr val="1F3B52"/>
                </a:solidFill>
              </a:rPr>
              <a:t>Xác nhận &amp; Check-in tại trạm</a:t>
            </a:r>
          </a:p>
        </p:txBody>
      </p:sp>
      <p:sp>
        <p:nvSpPr>
          <p:cNvPr id="615" name="b615"/>
          <p:cNvSpPr/>
          <p:nvPr/>
        </p:nvSpPr>
        <p:spPr>
          <a:xfrm>
            <a:off x="6223000" y="4343400"/>
            <a:ext cx="2540000" cy="1168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6E6F2"/>
            </a:solidFill>
          </a:ln>
          <a:effectLst>
            <a:outerShdw blurRad="80000" dist="25000" dir="5400000" rotWithShape="0">
              <a:srgbClr val="1F3B52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16" name="n616"/>
          <p:cNvSpPr/>
          <p:nvPr/>
        </p:nvSpPr>
        <p:spPr>
          <a:xfrm>
            <a:off x="7289800" y="4470400"/>
            <a:ext cx="406400" cy="4064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617" name="l617"/>
          <p:cNvSpPr txBox="1"/>
          <p:nvPr/>
        </p:nvSpPr>
        <p:spPr>
          <a:xfrm>
            <a:off x="6324600" y="4902200"/>
            <a:ext cx="2336800" cy="533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400" b="1" dirty="0">
                <a:solidFill>
                  <a:srgbClr val="1F3B52"/>
                </a:solidFill>
              </a:rPr>
              <a:t>Quy trình rửa xe tự động</a:t>
            </a:r>
          </a:p>
        </p:txBody>
      </p:sp>
      <p:sp>
        <p:nvSpPr>
          <p:cNvPr id="618" name="b618"/>
          <p:cNvSpPr/>
          <p:nvPr/>
        </p:nvSpPr>
        <p:spPr>
          <a:xfrm>
            <a:off x="3416300" y="4343400"/>
            <a:ext cx="2540000" cy="1168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6E6F2"/>
            </a:solidFill>
          </a:ln>
          <a:effectLst>
            <a:outerShdw blurRad="80000" dist="25000" dir="5400000" rotWithShape="0">
              <a:srgbClr val="1F3B52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19" name="n619"/>
          <p:cNvSpPr/>
          <p:nvPr/>
        </p:nvSpPr>
        <p:spPr>
          <a:xfrm>
            <a:off x="4483100" y="4470400"/>
            <a:ext cx="406400" cy="4064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620" name="l620"/>
          <p:cNvSpPr txBox="1"/>
          <p:nvPr/>
        </p:nvSpPr>
        <p:spPr>
          <a:xfrm>
            <a:off x="3517900" y="4902200"/>
            <a:ext cx="2336800" cy="533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400" b="1" dirty="0">
                <a:solidFill>
                  <a:srgbClr val="1F3B52"/>
                </a:solidFill>
              </a:rPr>
              <a:t>Nhận email ảnh xe + hóa đơn</a:t>
            </a:r>
          </a:p>
        </p:txBody>
      </p:sp>
      <p:sp>
        <p:nvSpPr>
          <p:cNvPr id="621" name="b621"/>
          <p:cNvSpPr/>
          <p:nvPr/>
        </p:nvSpPr>
        <p:spPr>
          <a:xfrm>
            <a:off x="609600" y="4343400"/>
            <a:ext cx="2540000" cy="1168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6E6F2"/>
            </a:solidFill>
          </a:ln>
          <a:effectLst>
            <a:outerShdw blurRad="80000" dist="25000" dir="5400000" rotWithShape="0">
              <a:srgbClr val="1F3B52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22" name="n622"/>
          <p:cNvSpPr/>
          <p:nvPr/>
        </p:nvSpPr>
        <p:spPr>
          <a:xfrm>
            <a:off x="1676400" y="4470400"/>
            <a:ext cx="406400" cy="4064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623" name="l623"/>
          <p:cNvSpPr txBox="1"/>
          <p:nvPr/>
        </p:nvSpPr>
        <p:spPr>
          <a:xfrm>
            <a:off x="711200" y="4902200"/>
            <a:ext cx="2336800" cy="533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en-US" sz="1400" b="1" dirty="0">
                <a:solidFill>
                  <a:srgbClr val="1F3B52"/>
                </a:solidFill>
              </a:rPr>
              <a:t>Checkout · Tích điểm · Đánh giá</a:t>
            </a:r>
          </a:p>
        </p:txBody>
      </p:sp>
      <p:sp>
        <p:nvSpPr>
          <p:cNvPr id="624" name="a624"/>
          <p:cNvSpPr/>
          <p:nvPr/>
        </p:nvSpPr>
        <p:spPr>
          <a:xfrm>
            <a:off x="3175000" y="2654300"/>
            <a:ext cx="215900" cy="228600"/>
          </a:xfrm>
          <a:prstGeom prst="rightArrow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5" name="a625"/>
          <p:cNvSpPr/>
          <p:nvPr/>
        </p:nvSpPr>
        <p:spPr>
          <a:xfrm>
            <a:off x="5981700" y="2654300"/>
            <a:ext cx="215900" cy="228600"/>
          </a:xfrm>
          <a:prstGeom prst="rightArrow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6" name="a626"/>
          <p:cNvSpPr/>
          <p:nvPr/>
        </p:nvSpPr>
        <p:spPr>
          <a:xfrm>
            <a:off x="8788400" y="2654300"/>
            <a:ext cx="215900" cy="228600"/>
          </a:xfrm>
          <a:prstGeom prst="rightArrow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7" name="a627"/>
          <p:cNvSpPr/>
          <p:nvPr/>
        </p:nvSpPr>
        <p:spPr>
          <a:xfrm>
            <a:off x="10185400" y="3378200"/>
            <a:ext cx="228600" cy="939800"/>
          </a:xfrm>
          <a:prstGeom prst="downArrow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8" name="a628"/>
          <p:cNvSpPr/>
          <p:nvPr/>
        </p:nvSpPr>
        <p:spPr>
          <a:xfrm>
            <a:off x="8788400" y="4813300"/>
            <a:ext cx="215900" cy="228600"/>
          </a:xfrm>
          <a:prstGeom prst="leftArrow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9" name="a629"/>
          <p:cNvSpPr/>
          <p:nvPr/>
        </p:nvSpPr>
        <p:spPr>
          <a:xfrm>
            <a:off x="5981700" y="4813300"/>
            <a:ext cx="215900" cy="228600"/>
          </a:xfrm>
          <a:prstGeom prst="leftArrow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30" name="a630"/>
          <p:cNvSpPr/>
          <p:nvPr/>
        </p:nvSpPr>
        <p:spPr>
          <a:xfrm>
            <a:off x="3175000" y="4813300"/>
            <a:ext cx="215900" cy="228600"/>
          </a:xfrm>
          <a:prstGeom prst="leftArrow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3117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643D2-E6AD-2F8B-CED1-E708BAE40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Quy trình rửa xe tự động</a:t>
            </a:r>
          </a:p>
        </p:txBody>
      </p:sp>
      <p:sp>
        <p:nvSpPr>
          <p:cNvPr id="700" name="line"/>
          <p:cNvSpPr/>
          <p:nvPr/>
        </p:nvSpPr>
        <p:spPr>
          <a:xfrm>
            <a:off x="1701800" y="3225800"/>
            <a:ext cx="9398000" cy="50800"/>
          </a:xfrm>
          <a:prstGeom prst="rect">
            <a:avLst/>
          </a:prstGeom>
          <a:solidFill>
            <a:srgbClr val="C3D9E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10" name="t710"/>
          <p:cNvSpPr txBox="1"/>
          <p:nvPr/>
        </p:nvSpPr>
        <p:spPr>
          <a:xfrm>
            <a:off x="635000" y="2616200"/>
            <a:ext cx="1524000" cy="254000"/>
          </a:xfrm>
          <a:prstGeom prst="rect">
            <a:avLst/>
          </a:prstGeom>
          <a:noFill/>
        </p:spPr>
        <p:txBody>
          <a:bodyPr wrap="square" lIns="18000" tIns="10000" rIns="18000" bIns="10000" anchor="b"/>
          <a:lstStyle/>
          <a:p>
            <a:pPr algn="ctr">
              <a:buNone/>
            </a:pPr>
            <a:r>
              <a:rPr lang="en-US" sz="1200" b="1" dirty="0">
                <a:solidFill>
                  <a:srgbClr val="64748B"/>
                </a:solidFill>
              </a:rPr>
              <a:t>CheckIn</a:t>
            </a:r>
          </a:p>
        </p:txBody>
      </p:sp>
      <p:sp>
        <p:nvSpPr>
          <p:cNvPr id="730" name="c730"/>
          <p:cNvSpPr/>
          <p:nvPr/>
        </p:nvSpPr>
        <p:spPr>
          <a:xfrm>
            <a:off x="1092200" y="2946400"/>
            <a:ext cx="609600" cy="60960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dist="20000" dir="5400000" rotWithShape="0">
              <a:srgbClr val="0F2A43">
                <a:alpha val="22000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750" name="t750"/>
          <p:cNvSpPr txBox="1"/>
          <p:nvPr/>
        </p:nvSpPr>
        <p:spPr>
          <a:xfrm>
            <a:off x="1092200" y="2946400"/>
            <a:ext cx="609600" cy="609600"/>
          </a:xfrm>
          <a:prstGeom prst="rect">
            <a:avLst/>
          </a:prstGeom>
          <a:noFill/>
        </p:spPr>
        <p:txBody>
          <a:bodyPr wrap="square" lIns="18000" tIns="10000" rIns="18000" bIns="100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20%</a:t>
            </a:r>
          </a:p>
        </p:txBody>
      </p:sp>
      <p:sp>
        <p:nvSpPr>
          <p:cNvPr id="770" name="t770"/>
          <p:cNvSpPr txBox="1"/>
          <p:nvPr/>
        </p:nvSpPr>
        <p:spPr>
          <a:xfrm>
            <a:off x="647700" y="3632200"/>
            <a:ext cx="1498600" cy="558800"/>
          </a:xfrm>
          <a:prstGeom prst="rect">
            <a:avLst/>
          </a:prstGeom>
          <a:noFill/>
        </p:spPr>
        <p:txBody>
          <a:bodyPr wrap="square" lIns="18000" tIns="10000" rIns="18000" bIns="10000" anchor="t"/>
          <a:lstStyle/>
          <a:p>
            <a:pPr algn="ctr">
              <a:buNone/>
            </a:pPr>
            <a:r>
              <a:rPr lang="en-US" sz="1400" b="0" dirty="0">
                <a:solidFill>
                  <a:srgbClr val="1F3B52"/>
                </a:solidFill>
              </a:rPr>
              <a:t>Đã check-in</a:t>
            </a:r>
          </a:p>
        </p:txBody>
      </p:sp>
      <p:sp>
        <p:nvSpPr>
          <p:cNvPr id="711" name="t711"/>
          <p:cNvSpPr txBox="1"/>
          <p:nvPr/>
        </p:nvSpPr>
        <p:spPr>
          <a:xfrm>
            <a:off x="2197100" y="2616200"/>
            <a:ext cx="1524000" cy="254000"/>
          </a:xfrm>
          <a:prstGeom prst="rect">
            <a:avLst/>
          </a:prstGeom>
          <a:noFill/>
        </p:spPr>
        <p:txBody>
          <a:bodyPr wrap="square" lIns="18000" tIns="10000" rIns="18000" bIns="10000" anchor="b"/>
          <a:lstStyle/>
          <a:p>
            <a:pPr algn="ctr">
              <a:buNone/>
            </a:pPr>
            <a:r>
              <a:rPr lang="en-US" sz="1200" b="1" dirty="0">
                <a:solidFill>
                  <a:srgbClr val="64748B"/>
                </a:solidFill>
              </a:rPr>
              <a:t>Washing</a:t>
            </a:r>
          </a:p>
        </p:txBody>
      </p:sp>
      <p:sp>
        <p:nvSpPr>
          <p:cNvPr id="731" name="c731"/>
          <p:cNvSpPr/>
          <p:nvPr/>
        </p:nvSpPr>
        <p:spPr>
          <a:xfrm>
            <a:off x="2654300" y="2946400"/>
            <a:ext cx="609600" cy="609600"/>
          </a:xfrm>
          <a:prstGeom prst="ellipse">
            <a:avLst/>
          </a:prstGeom>
          <a:solidFill>
            <a:srgbClr val="2563EB"/>
          </a:solidFill>
          <a:ln>
            <a:noFill/>
          </a:ln>
          <a:effectLst>
            <a:outerShdw blurRad="40000" dist="20000" dir="5400000" rotWithShape="0">
              <a:srgbClr val="0F2A43">
                <a:alpha val="22000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751" name="t751"/>
          <p:cNvSpPr txBox="1"/>
          <p:nvPr/>
        </p:nvSpPr>
        <p:spPr>
          <a:xfrm>
            <a:off x="2654300" y="2946400"/>
            <a:ext cx="609600" cy="609600"/>
          </a:xfrm>
          <a:prstGeom prst="rect">
            <a:avLst/>
          </a:prstGeom>
          <a:noFill/>
        </p:spPr>
        <p:txBody>
          <a:bodyPr wrap="square" lIns="18000" tIns="10000" rIns="18000" bIns="100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50%</a:t>
            </a:r>
          </a:p>
        </p:txBody>
      </p:sp>
      <p:sp>
        <p:nvSpPr>
          <p:cNvPr id="771" name="t771"/>
          <p:cNvSpPr txBox="1"/>
          <p:nvPr/>
        </p:nvSpPr>
        <p:spPr>
          <a:xfrm>
            <a:off x="2209800" y="3632200"/>
            <a:ext cx="1498600" cy="558800"/>
          </a:xfrm>
          <a:prstGeom prst="rect">
            <a:avLst/>
          </a:prstGeom>
          <a:noFill/>
        </p:spPr>
        <p:txBody>
          <a:bodyPr wrap="square" lIns="18000" tIns="10000" rIns="18000" bIns="10000" anchor="t"/>
          <a:lstStyle/>
          <a:p>
            <a:pPr algn="ctr">
              <a:buNone/>
            </a:pPr>
            <a:r>
              <a:rPr lang="en-US" sz="1400" b="0" dirty="0">
                <a:solidFill>
                  <a:srgbClr val="1F3B52"/>
                </a:solidFill>
              </a:rPr>
              <a:t>Đang rửa</a:t>
            </a:r>
          </a:p>
        </p:txBody>
      </p:sp>
      <p:sp>
        <p:nvSpPr>
          <p:cNvPr id="712" name="t712"/>
          <p:cNvSpPr txBox="1"/>
          <p:nvPr/>
        </p:nvSpPr>
        <p:spPr>
          <a:xfrm>
            <a:off x="3771900" y="2616200"/>
            <a:ext cx="1524000" cy="254000"/>
          </a:xfrm>
          <a:prstGeom prst="rect">
            <a:avLst/>
          </a:prstGeom>
          <a:noFill/>
        </p:spPr>
        <p:txBody>
          <a:bodyPr wrap="square" lIns="18000" tIns="10000" rIns="18000" bIns="10000" anchor="b"/>
          <a:lstStyle/>
          <a:p>
            <a:pPr algn="ctr">
              <a:buNone/>
            </a:pPr>
            <a:r>
              <a:rPr lang="en-US" sz="1200" b="1" dirty="0">
                <a:solidFill>
                  <a:srgbClr val="64748B"/>
                </a:solidFill>
              </a:rPr>
              <a:t>Drying</a:t>
            </a:r>
          </a:p>
        </p:txBody>
      </p:sp>
      <p:sp>
        <p:nvSpPr>
          <p:cNvPr id="732" name="c732"/>
          <p:cNvSpPr/>
          <p:nvPr/>
        </p:nvSpPr>
        <p:spPr>
          <a:xfrm>
            <a:off x="4229100" y="2946400"/>
            <a:ext cx="609600" cy="609600"/>
          </a:xfrm>
          <a:prstGeom prst="ellipse">
            <a:avLst/>
          </a:prstGeom>
          <a:solidFill>
            <a:srgbClr val="1D4ED8"/>
          </a:solidFill>
          <a:ln>
            <a:noFill/>
          </a:ln>
          <a:effectLst>
            <a:outerShdw blurRad="40000" dist="20000" dir="5400000" rotWithShape="0">
              <a:srgbClr val="0F2A43">
                <a:alpha val="22000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752" name="t752"/>
          <p:cNvSpPr txBox="1"/>
          <p:nvPr/>
        </p:nvSpPr>
        <p:spPr>
          <a:xfrm>
            <a:off x="4229100" y="2946400"/>
            <a:ext cx="609600" cy="609600"/>
          </a:xfrm>
          <a:prstGeom prst="rect">
            <a:avLst/>
          </a:prstGeom>
          <a:noFill/>
        </p:spPr>
        <p:txBody>
          <a:bodyPr wrap="square" lIns="18000" tIns="10000" rIns="18000" bIns="100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80%</a:t>
            </a:r>
          </a:p>
        </p:txBody>
      </p:sp>
      <p:sp>
        <p:nvSpPr>
          <p:cNvPr id="772" name="t772"/>
          <p:cNvSpPr txBox="1"/>
          <p:nvPr/>
        </p:nvSpPr>
        <p:spPr>
          <a:xfrm>
            <a:off x="3784600" y="3632200"/>
            <a:ext cx="1498600" cy="558800"/>
          </a:xfrm>
          <a:prstGeom prst="rect">
            <a:avLst/>
          </a:prstGeom>
          <a:noFill/>
        </p:spPr>
        <p:txBody>
          <a:bodyPr wrap="square" lIns="18000" tIns="10000" rIns="18000" bIns="10000" anchor="t"/>
          <a:lstStyle/>
          <a:p>
            <a:pPr algn="ctr">
              <a:buNone/>
            </a:pPr>
            <a:r>
              <a:rPr lang="en-US" sz="1400" b="0" dirty="0">
                <a:solidFill>
                  <a:srgbClr val="1F3B52"/>
                </a:solidFill>
              </a:rPr>
              <a:t>Đã sấy khô</a:t>
            </a:r>
          </a:p>
        </p:txBody>
      </p:sp>
      <p:sp>
        <p:nvSpPr>
          <p:cNvPr id="713" name="t713"/>
          <p:cNvSpPr txBox="1"/>
          <p:nvPr/>
        </p:nvSpPr>
        <p:spPr>
          <a:xfrm>
            <a:off x="5334000" y="2616200"/>
            <a:ext cx="1524000" cy="254000"/>
          </a:xfrm>
          <a:prstGeom prst="rect">
            <a:avLst/>
          </a:prstGeom>
          <a:noFill/>
        </p:spPr>
        <p:txBody>
          <a:bodyPr wrap="square" lIns="18000" tIns="10000" rIns="18000" bIns="10000" anchor="b"/>
          <a:lstStyle/>
          <a:p>
            <a:pPr algn="ctr">
              <a:buNone/>
            </a:pPr>
            <a:r>
              <a:rPr lang="en-US" sz="1200" b="1" dirty="0">
                <a:solidFill>
                  <a:srgbClr val="64748B"/>
                </a:solidFill>
              </a:rPr>
              <a:t>AutoCapture</a:t>
            </a:r>
          </a:p>
        </p:txBody>
      </p:sp>
      <p:sp>
        <p:nvSpPr>
          <p:cNvPr id="733" name="c733"/>
          <p:cNvSpPr/>
          <p:nvPr/>
        </p:nvSpPr>
        <p:spPr>
          <a:xfrm>
            <a:off x="5791200" y="2946400"/>
            <a:ext cx="609600" cy="609600"/>
          </a:xfrm>
          <a:prstGeom prst="ellipse">
            <a:avLst/>
          </a:prstGeom>
          <a:solidFill>
            <a:srgbClr val="1E40AF"/>
          </a:solidFill>
          <a:ln>
            <a:noFill/>
          </a:ln>
          <a:effectLst>
            <a:outerShdw blurRad="40000" dist="20000" dir="5400000" rotWithShape="0">
              <a:srgbClr val="0F2A43">
                <a:alpha val="22000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753" name="t753"/>
          <p:cNvSpPr txBox="1"/>
          <p:nvPr/>
        </p:nvSpPr>
        <p:spPr>
          <a:xfrm>
            <a:off x="5791200" y="2946400"/>
            <a:ext cx="609600" cy="609600"/>
          </a:xfrm>
          <a:prstGeom prst="rect">
            <a:avLst/>
          </a:prstGeom>
          <a:noFill/>
        </p:spPr>
        <p:txBody>
          <a:bodyPr wrap="square" lIns="18000" tIns="10000" rIns="18000" bIns="100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90%</a:t>
            </a:r>
          </a:p>
        </p:txBody>
      </p:sp>
      <p:sp>
        <p:nvSpPr>
          <p:cNvPr id="773" name="t773"/>
          <p:cNvSpPr txBox="1"/>
          <p:nvPr/>
        </p:nvSpPr>
        <p:spPr>
          <a:xfrm>
            <a:off x="5346700" y="3632200"/>
            <a:ext cx="1498600" cy="558800"/>
          </a:xfrm>
          <a:prstGeom prst="rect">
            <a:avLst/>
          </a:prstGeom>
          <a:noFill/>
        </p:spPr>
        <p:txBody>
          <a:bodyPr wrap="square" lIns="18000" tIns="10000" rIns="18000" bIns="10000" anchor="t"/>
          <a:lstStyle/>
          <a:p>
            <a:pPr algn="ctr">
              <a:buNone/>
            </a:pPr>
            <a:r>
              <a:rPr lang="en-US" sz="1400" b="0" dirty="0">
                <a:solidFill>
                  <a:srgbClr val="1F3B52"/>
                </a:solidFill>
              </a:rPr>
              <a:t>Tự động chụp ảnh</a:t>
            </a:r>
          </a:p>
        </p:txBody>
      </p:sp>
      <p:sp>
        <p:nvSpPr>
          <p:cNvPr id="714" name="t714"/>
          <p:cNvSpPr txBox="1"/>
          <p:nvPr/>
        </p:nvSpPr>
        <p:spPr>
          <a:xfrm>
            <a:off x="6896100" y="2616200"/>
            <a:ext cx="1524000" cy="254000"/>
          </a:xfrm>
          <a:prstGeom prst="rect">
            <a:avLst/>
          </a:prstGeom>
          <a:noFill/>
        </p:spPr>
        <p:txBody>
          <a:bodyPr wrap="square" lIns="18000" tIns="10000" rIns="18000" bIns="10000" anchor="b"/>
          <a:lstStyle/>
          <a:p>
            <a:pPr algn="ctr">
              <a:buNone/>
            </a:pPr>
            <a:r>
              <a:rPr lang="en-US" sz="1200" b="1" dirty="0">
                <a:solidFill>
                  <a:srgbClr val="64748B"/>
                </a:solidFill>
              </a:rPr>
              <a:t>AutoSendMail</a:t>
            </a:r>
          </a:p>
        </p:txBody>
      </p:sp>
      <p:sp>
        <p:nvSpPr>
          <p:cNvPr id="734" name="c734"/>
          <p:cNvSpPr/>
          <p:nvPr/>
        </p:nvSpPr>
        <p:spPr>
          <a:xfrm>
            <a:off x="7353300" y="2946400"/>
            <a:ext cx="609600" cy="609600"/>
          </a:xfrm>
          <a:prstGeom prst="ellipse">
            <a:avLst/>
          </a:prstGeom>
          <a:solidFill>
            <a:srgbClr val="1E3A8A"/>
          </a:solidFill>
          <a:ln>
            <a:noFill/>
          </a:ln>
          <a:effectLst>
            <a:outerShdw blurRad="40000" dist="20000" dir="5400000" rotWithShape="0">
              <a:srgbClr val="0F2A43">
                <a:alpha val="22000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754" name="t754"/>
          <p:cNvSpPr txBox="1"/>
          <p:nvPr/>
        </p:nvSpPr>
        <p:spPr>
          <a:xfrm>
            <a:off x="7353300" y="2946400"/>
            <a:ext cx="609600" cy="609600"/>
          </a:xfrm>
          <a:prstGeom prst="rect">
            <a:avLst/>
          </a:prstGeom>
          <a:noFill/>
        </p:spPr>
        <p:txBody>
          <a:bodyPr wrap="square" lIns="18000" tIns="10000" rIns="18000" bIns="100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93%</a:t>
            </a:r>
          </a:p>
        </p:txBody>
      </p:sp>
      <p:sp>
        <p:nvSpPr>
          <p:cNvPr id="774" name="t774"/>
          <p:cNvSpPr txBox="1"/>
          <p:nvPr/>
        </p:nvSpPr>
        <p:spPr>
          <a:xfrm>
            <a:off x="6908800" y="3632200"/>
            <a:ext cx="1498600" cy="558800"/>
          </a:xfrm>
          <a:prstGeom prst="rect">
            <a:avLst/>
          </a:prstGeom>
          <a:noFill/>
        </p:spPr>
        <p:txBody>
          <a:bodyPr wrap="square" lIns="18000" tIns="10000" rIns="18000" bIns="10000" anchor="t"/>
          <a:lstStyle/>
          <a:p>
            <a:pPr algn="ctr">
              <a:buNone/>
            </a:pPr>
            <a:r>
              <a:rPr lang="en-US" sz="1400" b="0" dirty="0">
                <a:solidFill>
                  <a:srgbClr val="1F3B52"/>
                </a:solidFill>
              </a:rPr>
              <a:t>Tự động gửi mail</a:t>
            </a:r>
          </a:p>
        </p:txBody>
      </p:sp>
      <p:sp>
        <p:nvSpPr>
          <p:cNvPr id="715" name="t715"/>
          <p:cNvSpPr txBox="1"/>
          <p:nvPr/>
        </p:nvSpPr>
        <p:spPr>
          <a:xfrm>
            <a:off x="8470900" y="2616200"/>
            <a:ext cx="1524000" cy="254000"/>
          </a:xfrm>
          <a:prstGeom prst="rect">
            <a:avLst/>
          </a:prstGeom>
          <a:noFill/>
        </p:spPr>
        <p:txBody>
          <a:bodyPr wrap="square" lIns="18000" tIns="10000" rIns="18000" bIns="10000" anchor="b"/>
          <a:lstStyle/>
          <a:p>
            <a:pPr algn="ctr">
              <a:buNone/>
            </a:pPr>
            <a:r>
              <a:rPr lang="en-US" sz="1200" b="1" dirty="0">
                <a:solidFill>
                  <a:srgbClr val="64748B"/>
                </a:solidFill>
              </a:rPr>
              <a:t>WaitingCheckout</a:t>
            </a:r>
          </a:p>
        </p:txBody>
      </p:sp>
      <p:sp>
        <p:nvSpPr>
          <p:cNvPr id="735" name="c735"/>
          <p:cNvSpPr/>
          <p:nvPr/>
        </p:nvSpPr>
        <p:spPr>
          <a:xfrm>
            <a:off x="8928100" y="2946400"/>
            <a:ext cx="609600" cy="609600"/>
          </a:xfrm>
          <a:prstGeom prst="ellipse">
            <a:avLst/>
          </a:prstGeom>
          <a:solidFill>
            <a:srgbClr val="0E7490"/>
          </a:solidFill>
          <a:ln>
            <a:noFill/>
          </a:ln>
          <a:effectLst>
            <a:outerShdw blurRad="40000" dist="20000" dir="5400000" rotWithShape="0">
              <a:srgbClr val="0F2A43">
                <a:alpha val="22000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755" name="t755"/>
          <p:cNvSpPr txBox="1"/>
          <p:nvPr/>
        </p:nvSpPr>
        <p:spPr>
          <a:xfrm>
            <a:off x="8928100" y="2946400"/>
            <a:ext cx="609600" cy="609600"/>
          </a:xfrm>
          <a:prstGeom prst="rect">
            <a:avLst/>
          </a:prstGeom>
          <a:noFill/>
        </p:spPr>
        <p:txBody>
          <a:bodyPr wrap="square" lIns="18000" tIns="10000" rIns="18000" bIns="100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95%</a:t>
            </a:r>
          </a:p>
        </p:txBody>
      </p:sp>
      <p:sp>
        <p:nvSpPr>
          <p:cNvPr id="775" name="t775"/>
          <p:cNvSpPr txBox="1"/>
          <p:nvPr/>
        </p:nvSpPr>
        <p:spPr>
          <a:xfrm>
            <a:off x="8483600" y="3632200"/>
            <a:ext cx="1498600" cy="558800"/>
          </a:xfrm>
          <a:prstGeom prst="rect">
            <a:avLst/>
          </a:prstGeom>
          <a:noFill/>
        </p:spPr>
        <p:txBody>
          <a:bodyPr wrap="square" lIns="18000" tIns="10000" rIns="18000" bIns="10000" anchor="t"/>
          <a:lstStyle/>
          <a:p>
            <a:pPr algn="ctr">
              <a:buNone/>
            </a:pPr>
            <a:r>
              <a:rPr lang="en-US" sz="1400" b="0" dirty="0">
                <a:solidFill>
                  <a:srgbClr val="1F3B52"/>
                </a:solidFill>
              </a:rPr>
              <a:t>Chờ thanh toán</a:t>
            </a:r>
          </a:p>
        </p:txBody>
      </p:sp>
      <p:sp>
        <p:nvSpPr>
          <p:cNvPr id="716" name="t716"/>
          <p:cNvSpPr txBox="1"/>
          <p:nvPr/>
        </p:nvSpPr>
        <p:spPr>
          <a:xfrm>
            <a:off x="10033000" y="2616200"/>
            <a:ext cx="1524000" cy="254000"/>
          </a:xfrm>
          <a:prstGeom prst="rect">
            <a:avLst/>
          </a:prstGeom>
          <a:noFill/>
        </p:spPr>
        <p:txBody>
          <a:bodyPr wrap="square" lIns="18000" tIns="10000" rIns="18000" bIns="10000" anchor="b"/>
          <a:lstStyle/>
          <a:p>
            <a:pPr algn="ctr">
              <a:buNone/>
            </a:pPr>
            <a:r>
              <a:rPr lang="en-US" sz="1200" b="1" dirty="0">
                <a:solidFill>
                  <a:srgbClr val="64748B"/>
                </a:solidFill>
              </a:rPr>
              <a:t>Completed</a:t>
            </a:r>
          </a:p>
        </p:txBody>
      </p:sp>
      <p:sp>
        <p:nvSpPr>
          <p:cNvPr id="736" name="c736"/>
          <p:cNvSpPr/>
          <p:nvPr/>
        </p:nvSpPr>
        <p:spPr>
          <a:xfrm>
            <a:off x="10490200" y="2946400"/>
            <a:ext cx="609600" cy="609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>
            <a:outerShdw blurRad="40000" dist="20000" dir="5400000" rotWithShape="0">
              <a:srgbClr val="0F2A43">
                <a:alpha val="22000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756" name="t756"/>
          <p:cNvSpPr txBox="1"/>
          <p:nvPr/>
        </p:nvSpPr>
        <p:spPr>
          <a:xfrm>
            <a:off x="10490200" y="2946400"/>
            <a:ext cx="609600" cy="609600"/>
          </a:xfrm>
          <a:prstGeom prst="rect">
            <a:avLst/>
          </a:prstGeom>
          <a:noFill/>
        </p:spPr>
        <p:txBody>
          <a:bodyPr wrap="square" lIns="18000" tIns="10000" rIns="18000" bIns="100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776" name="t776"/>
          <p:cNvSpPr txBox="1"/>
          <p:nvPr/>
        </p:nvSpPr>
        <p:spPr>
          <a:xfrm>
            <a:off x="10045700" y="3632200"/>
            <a:ext cx="1498600" cy="558800"/>
          </a:xfrm>
          <a:prstGeom prst="rect">
            <a:avLst/>
          </a:prstGeom>
          <a:noFill/>
        </p:spPr>
        <p:txBody>
          <a:bodyPr wrap="square" lIns="18000" tIns="10000" rIns="18000" bIns="10000" anchor="t"/>
          <a:lstStyle/>
          <a:p>
            <a:pPr algn="ctr">
              <a:buNone/>
            </a:pPr>
            <a:r>
              <a:rPr lang="en-US" sz="1400" b="0" dirty="0">
                <a:solidFill>
                  <a:srgbClr val="1F3B52"/>
                </a:solidFill>
              </a:rPr>
              <a:t>Hoàn tất</a:t>
            </a:r>
          </a:p>
        </p:txBody>
      </p:sp>
      <p:sp>
        <p:nvSpPr>
          <p:cNvPr id="790" name="b1"/>
          <p:cNvSpPr/>
          <p:nvPr/>
        </p:nvSpPr>
        <p:spPr>
          <a:xfrm>
            <a:off x="609600" y="4470400"/>
            <a:ext cx="10972800" cy="635000"/>
          </a:xfrm>
          <a:prstGeom prst="roundRect">
            <a:avLst>
              <a:gd name="adj" fmla="val 600"/>
            </a:avLst>
          </a:prstGeom>
          <a:solidFill>
            <a:srgbClr val="EAF3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91" name="t791"/>
          <p:cNvSpPr txBox="1"/>
          <p:nvPr/>
        </p:nvSpPr>
        <p:spPr>
          <a:xfrm>
            <a:off x="660400" y="4470400"/>
            <a:ext cx="10871200" cy="635000"/>
          </a:xfrm>
          <a:prstGeom prst="rect">
            <a:avLst/>
          </a:prstGeom>
          <a:noFill/>
        </p:spPr>
        <p:txBody>
          <a:bodyPr wrap="square" lIns="18000" tIns="10000" rIns="18000" bIns="10000" anchor="ctr"/>
          <a:lstStyle/>
          <a:p>
            <a:pPr algn="l">
              <a:buNone/>
            </a:pPr>
            <a:r>
              <a:rPr lang="en-US" sz="1400" b="1" dirty="0">
                <a:solidFill>
                  <a:srgbClr val="1E40AF"/>
                </a:solidFill>
              </a:rPr>
              <a:t>Trạng thái Booking:  </a:t>
            </a:r>
            <a:r>
              <a:rPr lang="en-US" sz="1400" b="0" dirty="0">
                <a:solidFill>
                  <a:srgbClr val="1F3B52"/>
                </a:solidFill>
              </a:rPr>
              <a:t>Pending → Confirmed → CheckedIn → Washing → WaitingCheckout → Completed   ·   Ngoại lệ: Cancelled, NoShow</a:t>
            </a:r>
          </a:p>
        </p:txBody>
      </p:sp>
      <p:sp>
        <p:nvSpPr>
          <p:cNvPr id="792" name="b2"/>
          <p:cNvSpPr/>
          <p:nvPr/>
        </p:nvSpPr>
        <p:spPr>
          <a:xfrm>
            <a:off x="609600" y="5257800"/>
            <a:ext cx="10972800" cy="635000"/>
          </a:xfrm>
          <a:prstGeom prst="roundRect">
            <a:avLst>
              <a:gd name="adj" fmla="val 600"/>
            </a:avLst>
          </a:prstGeom>
          <a:solidFill>
            <a:srgbClr val="EDF6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93" name="t793"/>
          <p:cNvSpPr txBox="1"/>
          <p:nvPr/>
        </p:nvSpPr>
        <p:spPr>
          <a:xfrm>
            <a:off x="660400" y="5257800"/>
            <a:ext cx="10871200" cy="635000"/>
          </a:xfrm>
          <a:prstGeom prst="rect">
            <a:avLst/>
          </a:prstGeom>
          <a:noFill/>
        </p:spPr>
        <p:txBody>
          <a:bodyPr wrap="square" lIns="18000" tIns="10000" rIns="18000" bIns="10000" anchor="ctr"/>
          <a:lstStyle/>
          <a:p>
            <a:pPr algn="l">
              <a:buNone/>
            </a:pPr>
            <a:r>
              <a:rPr lang="en-US" sz="1400" b="1" dirty="0">
                <a:solidFill>
                  <a:srgbClr val="0E7490"/>
                </a:solidFill>
              </a:rPr>
              <a:t>Trạng thái Queue:  </a:t>
            </a:r>
            <a:r>
              <a:rPr lang="en-US" sz="1400" b="0" dirty="0">
                <a:solidFill>
                  <a:srgbClr val="1F3B52"/>
                </a:solidFill>
              </a:rPr>
              <a:t>Waiting → LPR_Scan → Washing → Addon_Processing → Drying → Completed → Archived</a:t>
            </a:r>
          </a:p>
        </p:txBody>
      </p:sp>
    </p:spTree>
    <p:extLst>
      <p:ext uri="{BB962C8B-B14F-4D97-AF65-F5344CB8AC3E}">
        <p14:creationId xmlns:p14="http://schemas.microsoft.com/office/powerpoint/2010/main" val="449663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8F6D1-6152-A91A-AC07-D52B82E98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Kết luận &amp; Hướng phát triển</a:t>
            </a:r>
            <a:endParaRPr lang="en-US"/>
          </a:p>
        </p:txBody>
      </p:sp>
      <p:sp>
        <p:nvSpPr>
          <p:cNvPr id="800" name="r800"/>
          <p:cNvSpPr/>
          <p:nvPr/>
        </p:nvSpPr>
        <p:spPr>
          <a:xfrm>
            <a:off x="609600" y="1905000"/>
            <a:ext cx="5308600" cy="381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E6F2"/>
            </a:solidFill>
          </a:ln>
          <a:effectLst>
            <a:outerShdw blurRad="50000" dist="24000" dir="5400000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10" name="r810"/>
          <p:cNvSpPr/>
          <p:nvPr/>
        </p:nvSpPr>
        <p:spPr>
          <a:xfrm>
            <a:off x="6273800" y="1905000"/>
            <a:ext cx="5308600" cy="381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E6F2"/>
            </a:solidFill>
          </a:ln>
          <a:effectLst>
            <a:outerShdw blurRad="50000" dist="24000" dir="5400000" rotWithShape="0">
              <a:srgbClr val="0F2A43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01" name="t801"/>
          <p:cNvSpPr txBox="1"/>
          <p:nvPr/>
        </p:nvSpPr>
        <p:spPr>
          <a:xfrm>
            <a:off x="1397000" y="2108200"/>
            <a:ext cx="4318000" cy="508000"/>
          </a:xfrm>
          <a:prstGeom prst="rect">
            <a:avLst/>
          </a:prstGeom>
          <a:noFill/>
        </p:spPr>
        <p:txBody>
          <a:bodyPr wrap="square" lIns="18000" tIns="8000" rIns="18000" bIns="8000" anchor="ctr"/>
          <a:lstStyle/>
          <a:p>
            <a:pPr algn="l">
              <a:buNone/>
            </a:pPr>
            <a:r>
              <a:rPr lang="en-US" sz="1800" b="1" dirty="0">
                <a:solidFill>
                  <a:srgbClr val="1E40AF"/>
                </a:solidFill>
              </a:rPr>
              <a:t>Giá trị mang lại</a:t>
            </a:r>
          </a:p>
        </p:txBody>
      </p:sp>
      <p:sp>
        <p:nvSpPr>
          <p:cNvPr id="811" name="t811"/>
          <p:cNvSpPr txBox="1"/>
          <p:nvPr/>
        </p:nvSpPr>
        <p:spPr>
          <a:xfrm>
            <a:off x="7061200" y="2108200"/>
            <a:ext cx="4318000" cy="508000"/>
          </a:xfrm>
          <a:prstGeom prst="rect">
            <a:avLst/>
          </a:prstGeom>
          <a:noFill/>
        </p:spPr>
        <p:txBody>
          <a:bodyPr wrap="square" lIns="18000" tIns="8000" rIns="18000" bIns="8000" anchor="ctr"/>
          <a:lstStyle/>
          <a:p>
            <a:pPr algn="l">
              <a:buNone/>
            </a:pPr>
            <a:r>
              <a:rPr lang="en-US" sz="1800" b="1" dirty="0">
                <a:solidFill>
                  <a:srgbClr val="0E7490"/>
                </a:solidFill>
              </a:rPr>
              <a:t>Hướng phát triển</a:t>
            </a:r>
          </a:p>
        </p:txBody>
      </p:sp>
      <p:sp>
        <p:nvSpPr>
          <p:cNvPr id="802" name="r802"/>
          <p:cNvSpPr/>
          <p:nvPr/>
        </p:nvSpPr>
        <p:spPr>
          <a:xfrm>
            <a:off x="914400" y="2717800"/>
            <a:ext cx="4699000" cy="25400"/>
          </a:xfrm>
          <a:prstGeom prst="roundRect">
            <a:avLst>
              <a:gd name="adj" fmla="val 0"/>
            </a:avLst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12" name="r812"/>
          <p:cNvSpPr/>
          <p:nvPr/>
        </p:nvSpPr>
        <p:spPr>
          <a:xfrm>
            <a:off x="6578600" y="2717800"/>
            <a:ext cx="4699000" cy="25400"/>
          </a:xfrm>
          <a:prstGeom prst="roundRect">
            <a:avLst>
              <a:gd name="adj" fmla="val 0"/>
            </a:avLst>
          </a:prstGeom>
          <a:solidFill>
            <a:srgbClr val="D6E6F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3" name="t803"/>
          <p:cNvSpPr txBox="1"/>
          <p:nvPr/>
        </p:nvSpPr>
        <p:spPr>
          <a:xfrm>
            <a:off x="863600" y="2870200"/>
            <a:ext cx="4800600" cy="2717800"/>
          </a:xfrm>
          <a:prstGeom prst="rect">
            <a:avLst/>
          </a:prstGeom>
          <a:noFill/>
        </p:spPr>
        <p:txBody>
          <a:bodyPr wrap="square" lIns="18000" tIns="8000" rIns="18000" bIns="8000" anchor="t"/>
          <a:lstStyle/>
          <a:p>
            <a:pPr marL="228600" indent="-228600" algn="l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F3B52"/>
                </a:solidFill>
              </a:rPr>
              <a:t>Số hóa toàn bộ quy trình, giảm thời gian chờ</a:t>
            </a:r>
          </a:p>
          <a:p>
            <a:pPr marL="228600" indent="-228600" algn="l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F3B52"/>
                </a:solidFill>
              </a:rPr>
              <a:t>Tự động hóa vận hành, giảm thao tác thủ công</a:t>
            </a:r>
          </a:p>
          <a:p>
            <a:pPr marL="228600" indent="-228600" algn="l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F3B52"/>
                </a:solidFill>
              </a:rPr>
              <a:t>Theo dõi trạng thái real-time minh bạch</a:t>
            </a:r>
          </a:p>
          <a:p>
            <a:pPr marL="228600" indent="-228600" algn="l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F3B52"/>
                </a:solidFill>
              </a:rPr>
              <a:t>Giữ chân khách hàng qua chương trình Loyalty</a:t>
            </a:r>
          </a:p>
          <a:p>
            <a:pPr marL="228600" indent="-228600" algn="l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F3B52"/>
                </a:solidFill>
              </a:rPr>
              <a:t>Thanh toán online tiện lợi, an toàn (PayOS)</a:t>
            </a:r>
          </a:p>
        </p:txBody>
      </p:sp>
      <p:sp>
        <p:nvSpPr>
          <p:cNvPr id="813" name="t813"/>
          <p:cNvSpPr txBox="1"/>
          <p:nvPr/>
        </p:nvSpPr>
        <p:spPr>
          <a:xfrm>
            <a:off x="6527800" y="2870200"/>
            <a:ext cx="4800600" cy="2717800"/>
          </a:xfrm>
          <a:prstGeom prst="rect">
            <a:avLst/>
          </a:prstGeom>
          <a:noFill/>
        </p:spPr>
        <p:txBody>
          <a:bodyPr wrap="square" lIns="18000" tIns="8000" rIns="18000" bIns="8000" anchor="t"/>
          <a:lstStyle/>
          <a:p>
            <a:pPr marL="228600" indent="-228600" algn="l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F3B52"/>
                </a:solidFill>
              </a:rPr>
              <a:t>Ứng dụng di động (mobile app) cho khách hàng</a:t>
            </a:r>
          </a:p>
          <a:p>
            <a:pPr marL="228600" indent="-228600" algn="l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F3B52"/>
                </a:solidFill>
              </a:rPr>
              <a:t>Tích hợp AI nhận diện biển số &amp; phân loại xe</a:t>
            </a:r>
          </a:p>
          <a:p>
            <a:pPr marL="228600" indent="-228600" algn="l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F3B52"/>
                </a:solidFill>
              </a:rPr>
              <a:t>Mở rộng mô hình đa chi nhánh (multi-branch)</a:t>
            </a:r>
          </a:p>
          <a:p>
            <a:pPr marL="228600" indent="-228600" algn="l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F3B52"/>
                </a:solidFill>
              </a:rPr>
              <a:t>Phân tích dữ liệu nâng cao (BI dashboard)</a:t>
            </a:r>
          </a:p>
          <a:p>
            <a:pPr marL="228600" indent="-228600" algn="l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F3B52"/>
                </a:solidFill>
              </a:rPr>
              <a:t>Thêm cổng thanh toán &amp; ví điện tử</a:t>
            </a:r>
          </a:p>
        </p:txBody>
      </p:sp>
      <p:sp>
        <p:nvSpPr>
          <p:cNvPr id="820" name="bar"/>
          <p:cNvSpPr/>
          <p:nvPr/>
        </p:nvSpPr>
        <p:spPr>
          <a:xfrm>
            <a:off x="609600" y="5918200"/>
            <a:ext cx="10972800" cy="533400"/>
          </a:xfrm>
          <a:prstGeom prst="roundRect">
            <a:avLst>
              <a:gd name="adj" fmla="val 30000"/>
            </a:avLst>
          </a:prstGeom>
          <a:gradFill>
            <a:gsLst>
              <a:gs pos="0">
                <a:srgbClr val="2563EB"/>
              </a:gs>
              <a:gs pos="100000">
                <a:srgbClr val="06B6D4"/>
              </a:gs>
            </a:gsLst>
            <a:lin ang="0" scaled="1"/>
          </a:gradFill>
          <a:ln>
            <a:noFill/>
          </a:ln>
        </p:spPr>
        <p:txBody>
          <a:bodyPr lIns="18000" rIns="180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AutoWash Pro — Nền tảng quản lý &amp; tự động hóa dịch vụ rửa xe</a:t>
            </a:r>
          </a:p>
        </p:txBody>
      </p:sp>
      <p:pic>
        <p:nvPicPr>
          <p:cNvPr id="821" name="Graphic 821" descr="Value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89000" y="2133600"/>
            <a:ext cx="381000" cy="381000"/>
          </a:xfrm>
          <a:prstGeom prst="rect">
            <a:avLst/>
          </a:prstGeom>
        </p:spPr>
      </p:pic>
      <p:pic>
        <p:nvPicPr>
          <p:cNvPr id="822" name="Graphic 822" descr="Roadmap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53200" y="2133600"/>
            <a:ext cx="3810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1379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4261521905]">
  <a:themeElements>
    <a:clrScheme name="Office">
      <a:dk1>
        <a:srgbClr val="0F2A43"/>
      </a:dk1>
      <a:lt1>
        <a:srgbClr val="FFFFFF"/>
      </a:lt1>
      <a:dk2>
        <a:srgbClr val="0E3A5C"/>
      </a:dk2>
      <a:lt2>
        <a:srgbClr val="EAF3FA"/>
      </a:lt2>
      <a:accent1>
        <a:srgbClr val="0EA5E9"/>
      </a:accent1>
      <a:accent2>
        <a:srgbClr val="2563EB"/>
      </a:accent2>
      <a:accent3>
        <a:srgbClr val="06B6D4"/>
      </a:accent3>
      <a:accent4>
        <a:srgbClr val="0F766E"/>
      </a:accent4>
      <a:accent5>
        <a:srgbClr val="38BDF8"/>
      </a:accent5>
      <a:accent6>
        <a:srgbClr val="1E40AF"/>
      </a:accent6>
      <a:hlink>
        <a:srgbClr val="0563C1"/>
      </a:hlink>
      <a:folHlink>
        <a:srgbClr val="954F72"/>
      </a:folHlink>
    </a:clrScheme>
    <a:fontScheme name="Office">
      <a:majorFont>
        <a:latin typeface="Segoe UI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9D664D5-A262-4EA0-B7D6-1A37FA16C7C2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d5c8e1fa-13f1-4522-9d35-dd0e735659e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1095</Words>
  <Application>Microsoft Office PowerPoint</Application>
  <PresentationFormat>Widescreen</PresentationFormat>
  <Paragraphs>188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Segoe UI</vt:lpstr>
      <vt:lpstr>Office Theme [1784261521905]</vt:lpstr>
      <vt:lpstr>AutoWash Pro</vt:lpstr>
      <vt:lpstr>Tổng quan hệ thống</vt:lpstr>
      <vt:lpstr>Kiến trúc hệ thống</vt:lpstr>
      <vt:lpstr>Công nghệ sử dụng (Tech stack)</vt:lpstr>
      <vt:lpstr>Sơ đồ ngữ cảnh (Context Diagram)</vt:lpstr>
      <vt:lpstr>Tác nhân của hệ thống (Actors)</vt:lpstr>
      <vt:lpstr>Chức năng cho Khách hàng</vt:lpstr>
      <vt:lpstr>Chức năng cho Nhân viên / Quản trị</vt:lpstr>
      <vt:lpstr>Tính năng tự động hóa</vt:lpstr>
      <vt:lpstr>Luồng đặt &amp; sử dụng dịch vụ</vt:lpstr>
      <vt:lpstr>Quy trình rửa xe tự động</vt:lpstr>
      <vt:lpstr>Kết luận &amp; Hướng phát triển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Thuận Nguyễn</dc:creator>
  <cp:lastModifiedBy>Thuận Nguyễn</cp:lastModifiedBy>
  <cp:revision>4</cp:revision>
  <dcterms:created xsi:type="dcterms:W3CDTF">2026-07-17T03:39:06Z</dcterms:created>
  <dcterms:modified xsi:type="dcterms:W3CDTF">2026-07-17T04:17:40Z</dcterms:modified>
</cp:coreProperties>
</file>