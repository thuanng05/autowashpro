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4" r:id="rId3"/>
    <p:sldId id="265" r:id="rId4"/>
    <p:sldId id="267" r:id="rId5"/>
    <p:sldId id="281" r:id="rId6"/>
    <p:sldId id="285" r:id="rId7"/>
    <p:sldId id="282" r:id="rId8"/>
    <p:sldId id="283" r:id="rId9"/>
    <p:sldId id="287" r:id="rId10"/>
    <p:sldId id="279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82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32941-ABC2-D05F-FEBA-9C8A8AFABA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8E50C5-FB70-D460-73B5-896B9AD95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8E830F-907A-BB7D-A117-C41D55220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174D9E-5DD0-54AD-8958-0A4AEBC18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7EFB83-0439-611B-5CA2-FF6246777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2432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D056E-BCD5-506B-33DB-A9C36A05F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CB4FA-4A09-55D4-5E1E-8EAFE5C2A0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CB6D0-227F-0C02-60A7-6A35AB81B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B28DC6-5EC6-74B4-C1BC-BDF0BBACE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6405D-AB7B-CA47-4131-E0ECD43B6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65358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56CE-CA79-616A-59B6-839B06F4EF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1A61EA-B083-EEDD-1CCB-E8DF001636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28551-0EF0-097E-D0E6-BBCB6125E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5FF3C5-20F9-A419-DAFB-9128CF854B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209FCC-777E-758F-DFD5-32FD8B8D8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4836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69DAF-A6D0-DF6E-7DBA-975DCAD3A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8D1B32-D60B-53A4-18A2-958791F3EBE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1617AF-59D4-3856-4403-023EDFCA2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8AD784-0FF5-0011-56CF-CE452B119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C7FAD6-6A5E-C9FD-3D02-308F43D9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61B61-44F1-8893-9B5A-F94B3638F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2087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52CC8-197E-FCF1-4CAE-3F3C5721B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4F4E24-C992-1B8A-9F48-237C4177C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98A62B-D097-EF37-A346-F9D4BCF8BB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7800D0-4B44-1F3E-5A82-4886161B35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30261A-2F5D-129B-FE47-B8478BDCAA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71038A7-E89A-2338-DE1E-9237387D7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49803FD-1B5D-31D6-5DEA-C9C8A9215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D13B97D-DE51-2A36-CCBC-9AD2438C7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72667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84E03-9255-A84B-D9B8-A0C8146D27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7350AA-29F1-71A5-7ED6-3903F7251D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9291DB-5535-8907-E7C9-D9CD77D18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52533C-B6F7-BFCC-18E7-63770E12C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112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7E1D8-7B29-DC14-65D7-7B0073835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8258B84-2F84-88DF-06A3-11D067DE0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ADDBF8-8D6D-413E-0E66-A72361342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773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8AFA0-3ADC-D9D1-206A-57632882B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9D1C6-91B2-83B3-BC7A-C5465ACC1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3E2200-14E6-9273-AC9F-3443B89C70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23C4D5-BCD1-A9D9-B242-B7ADE04F9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873E68-7977-4EA7-1D53-029C93038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93EA8-4B0F-977C-B361-600F0EADD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3699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194FE-FD42-DA15-1F8D-2C6AABF70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4D4A70-AFFF-0AF1-F0F7-3E54E392C3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AF4906-458E-F122-7B8A-2AFC4E38E9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2464D6-1744-C561-ED22-C3C03AC1A5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275A79-B6DF-E976-DCB9-F45916133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BC483B-35EC-2AB7-FD93-66E1D78BA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2688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0BB88-D4E2-5B8E-9B3A-F56D6C4F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69E6D1-F253-66A6-B8C6-9EAF9AA33C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E59F6E-3FDE-64ED-BAF3-1BB5ED53A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1AAAAF-3894-E15B-F36A-602CFD67B0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86EF1-E40E-82D9-1E8E-E17A89F4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3957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98B1E7-5A78-24E7-1112-6DE9221C1B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441838-20B8-A9EB-D22D-D4DA9E7F1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88D96A-D9C2-4E4D-6B0E-86C12742D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5E3793-02A4-4268-4100-78A603047C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9A1BF-B032-F33D-880F-4685EB80E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4335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6A47D1A-8057-3227-565D-85D1644A1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1265C7-13E0-8EB6-877E-02810A4D2F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7DB2B-5ADE-ABB7-A53D-C12CCB4EB2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70D1C0-1DCC-44F4-BF03-0C54DBAEAB12}" type="datetimeFigureOut">
              <a:rPr lang="en-US" smtClean="0"/>
              <a:t>7/18/2026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1F1F7-63F7-EE79-A3B1-7F22D0749E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43D1F2-2745-6683-0521-C02471D8D1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56AF0A-7A10-46E3-A25C-43EEE6D3B898}" type="slidenum">
              <a:rPr lang="en-US" smtClean="0"/>
              <a:t>‹#›</a:t>
            </a:fld>
            <a:endParaRPr lang="en-US"/>
          </a:p>
        </p:txBody>
      </p:sp>
      <p:grpSp>
        <p:nvGrpSpPr>
          <p:cNvPr id="900" name="Decor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sp>
          <p:nvSpPr>
            <p:cNvPr id="901" name="TopBar"/>
            <p:cNvSpPr/>
            <p:nvPr/>
          </p:nvSpPr>
          <p:spPr>
            <a:xfrm>
              <a:off x="0" y="0"/>
              <a:ext cx="9144000" cy="45720"/>
            </a:xfrm>
            <a:prstGeom prst="rect">
              <a:avLst/>
            </a:prstGeom>
            <a:solidFill>
              <a:srgbClr val="0891B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CornerTri1"/>
            <p:cNvSpPr/>
            <p:nvPr/>
          </p:nvSpPr>
          <p:spPr>
            <a:xfrm>
              <a:off x="8229600" y="6172200"/>
              <a:ext cx="914400" cy="685800"/>
            </a:xfrm>
            <a:prstGeom prst="rtTriangle">
              <a:avLst/>
            </a:prstGeom>
            <a:solidFill>
              <a:srgbClr val="06B6D4">
                <a:alpha val="35000"/>
              </a:srgbClr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CornerTri2"/>
            <p:cNvSpPr/>
            <p:nvPr/>
          </p:nvSpPr>
          <p:spPr>
            <a:xfrm rot="10800000">
              <a:off x="8686800" y="6400800"/>
              <a:ext cx="457200" cy="457200"/>
            </a:xfrm>
            <a:prstGeom prst="rtTriangle">
              <a:avLst/>
            </a:prstGeom>
            <a:solidFill>
              <a:srgbClr val="0891B2"/>
            </a:solidFill>
            <a:ln>
              <a:noFill/>
            </a:ln>
          </p:spPr>
          <p:txBody>
            <a:bodyPr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32746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F243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1F3B4D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sv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ED4A4-3F31-6636-E5DB-1E823C9CEA3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sz="6000" b="1" dirty="0">
                <a:solidFill>
                  <a:schemeClr val="accent1"/>
                </a:solidFill>
              </a:rPr>
              <a:t>AutoWash Pro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6A9611-1019-B4D5-0EEB-EEDE75FE2D0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ctr"/>
            <a:r>
              <a:rPr lang="en-US" sz="2200" b="1" dirty="0">
                <a:solidFill>
                  <a:schemeClr val="tx1"/>
                </a:solidFill>
              </a:rPr>
              <a:t>Hệ thống quản lý &amp; tự động hóa dịch vụ rửa xe</a:t>
            </a:r>
          </a:p>
          <a:p>
            <a:pPr algn="ctr"/>
            <a:r>
              <a:rPr lang="en-US" sz="1500" i="1" dirty="0">
                <a:solidFill>
                  <a:schemeClr val="accent1"/>
                </a:solidFill>
              </a:rPr>
              <a:t>“Rửa xe thông minh — Trải nghiệm tự động, minh bạch, tích điểm.”</a:t>
            </a:r>
          </a:p>
          <a:p>
            <a:pPr algn="ctr">
              <a:spcBef>
                <a:spcPts val="800"/>
              </a:spcBef>
            </a:pPr>
            <a:r>
              <a:rPr lang="en-US" sz="1400" dirty="0">
                <a:solidFill>
                  <a:schemeClr val="tx1"/>
                </a:solidFill>
              </a:rPr>
              <a:t>Môn học: SWP391 · [Kỳ / Năm học]</a:t>
            </a:r>
          </a:p>
          <a:p>
            <a:pPr algn="ctr"/>
            <a:r>
              <a:rPr lang="en-US" sz="1400" dirty="0">
                <a:solidFill>
                  <a:schemeClr val="tx1"/>
                </a:solidFill>
              </a:rPr>
              <a:t>Nhóm: [Tên nhóm / thành viên / MSSV] · GVHD: [Tên GVHD]</a:t>
            </a:r>
          </a:p>
        </p:txBody>
      </p:sp>
      <p:pic>
        <p:nvPicPr>
          <p:cNvPr id="4" name="Graphic 4" descr="Car wash ic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88000" y="508000"/>
            <a:ext cx="1016000" cy="101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57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76554-4371-2C38-3A78-93A2A11B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Giới thiệu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D5796DD1-1A8A-4272-8D31-F0ED21970A8B}"/>
              </a:ext>
            </a:extLst>
          </p:cNvPr>
          <p:cNvSpPr/>
          <p:nvPr/>
        </p:nvSpPr>
        <p:spPr>
          <a:xfrm>
            <a:off x="838200" y="1905000"/>
            <a:ext cx="10515600" cy="10668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ctr" anchorCtr="0"/>
          <a:lstStyle/>
          <a:p>
            <a:pPr algn="l"/>
            <a:r>
              <a:rPr lang="en-US" sz="1500">
                <a:solidFill>
                  <a:srgbClr val="1F3B4D"/>
                </a:solidFill>
              </a:rPr>
              <a:t>AutoWash Pro là nền tảng web số hóa toàn bộ hoạt động của trạm/chuỗi rửa xe — từ đặt lịch online, xếp hàng chờ, tự động hóa quy trình rửa, thanh toán đến chăm sóc khách hàng thân thiết.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F9763C-927C-4F6C-82B0-3C52555F1CFF}"/>
              </a:ext>
            </a:extLst>
          </p:cNvPr>
          <p:cNvSpPr txBox="1"/>
          <p:nvPr/>
        </p:nvSpPr>
        <p:spPr>
          <a:xfrm>
            <a:off x="838200" y="3098800"/>
            <a:ext cx="105156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vi-VN" sz="1400">
                <a:solidFill>
                  <a:srgbClr val="0F2436"/>
                </a:solidFill>
              </a:rPr>
              <a:t>Đối tượng phục vụ:  Khách hàng cá nhân (chủ xe)  ·  Đội ngũ vận hành trạm rửa xe (nhân viên, quản trị viên)</a:t>
            </a:r>
            <a:endParaRPr lang="en-US" sz="1400">
              <a:solidFill>
                <a:srgbClr val="0F2436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C1FED9-3501-47F3-A712-87D6823BD5E2}"/>
              </a:ext>
            </a:extLst>
          </p:cNvPr>
          <p:cNvSpPr txBox="1"/>
          <p:nvPr/>
        </p:nvSpPr>
        <p:spPr>
          <a:xfrm>
            <a:off x="838200" y="3581400"/>
            <a:ext cx="5080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891B2"/>
                </a:solidFill>
              </a:rPr>
              <a:t>Giá trị cốt lõi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2F141C6-4EB3-49CE-A9DC-B3A75BB1DFA5}"/>
              </a:ext>
            </a:extLst>
          </p:cNvPr>
          <p:cNvSpPr/>
          <p:nvPr/>
        </p:nvSpPr>
        <p:spPr>
          <a:xfrm>
            <a:off x="838200" y="4038600"/>
            <a:ext cx="2400300" cy="226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E66E84-F2BB-4EB0-BACD-2F80E2FFE3C0}"/>
              </a:ext>
            </a:extLst>
          </p:cNvPr>
          <p:cNvSpPr/>
          <p:nvPr/>
        </p:nvSpPr>
        <p:spPr>
          <a:xfrm>
            <a:off x="838200" y="4038600"/>
            <a:ext cx="24003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2A9125-3FCA-4C43-97CD-84576A9C50D7}"/>
              </a:ext>
            </a:extLst>
          </p:cNvPr>
          <p:cNvSpPr txBox="1"/>
          <p:nvPr/>
        </p:nvSpPr>
        <p:spPr>
          <a:xfrm>
            <a:off x="939800" y="4978400"/>
            <a:ext cx="2197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2436"/>
                </a:solidFill>
              </a:rPr>
              <a:t>Đặt lịch &amp; theo dõi real-time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7EB089-68D8-4B45-BC19-C5FE9B74E65C}"/>
              </a:ext>
            </a:extLst>
          </p:cNvPr>
          <p:cNvSpPr txBox="1"/>
          <p:nvPr/>
        </p:nvSpPr>
        <p:spPr>
          <a:xfrm>
            <a:off x="965200" y="5537200"/>
            <a:ext cx="21463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1F3B4D"/>
                </a:solidFill>
              </a:rPr>
              <a:t>Đặt lịch online, theo dõi tiến trình theo thời gian thực.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D13BAD57-69AF-4DA4-9948-77751AAA45B6}"/>
              </a:ext>
            </a:extLst>
          </p:cNvPr>
          <p:cNvSpPr/>
          <p:nvPr/>
        </p:nvSpPr>
        <p:spPr>
          <a:xfrm>
            <a:off x="3543300" y="4038600"/>
            <a:ext cx="2400300" cy="226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A26BA41-1E6B-4B4D-A49E-CB0E03AA1589}"/>
              </a:ext>
            </a:extLst>
          </p:cNvPr>
          <p:cNvSpPr/>
          <p:nvPr/>
        </p:nvSpPr>
        <p:spPr>
          <a:xfrm>
            <a:off x="3543300" y="4038600"/>
            <a:ext cx="24003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EF11CE-42A1-4EA9-8A84-6DBA4C4E4A00}"/>
              </a:ext>
            </a:extLst>
          </p:cNvPr>
          <p:cNvSpPr txBox="1"/>
          <p:nvPr/>
        </p:nvSpPr>
        <p:spPr>
          <a:xfrm>
            <a:off x="3644900" y="4978400"/>
            <a:ext cx="2197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2436"/>
                </a:solidFill>
              </a:rPr>
              <a:t>Tự động hóa quy trình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10C9CE-1A62-4235-B674-F8F3E0742A77}"/>
              </a:ext>
            </a:extLst>
          </p:cNvPr>
          <p:cNvSpPr txBox="1"/>
          <p:nvPr/>
        </p:nvSpPr>
        <p:spPr>
          <a:xfrm>
            <a:off x="3670300" y="5537200"/>
            <a:ext cx="21463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250">
                <a:solidFill>
                  <a:srgbClr val="1F3B4D"/>
                </a:solidFill>
              </a:rPr>
              <a:t>Giảm tối đa thao tác thủ công cho nhân viên.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E14DA00-5834-4BC6-80E3-B7E04354F112}"/>
              </a:ext>
            </a:extLst>
          </p:cNvPr>
          <p:cNvSpPr/>
          <p:nvPr/>
        </p:nvSpPr>
        <p:spPr>
          <a:xfrm>
            <a:off x="6248400" y="4038600"/>
            <a:ext cx="2400300" cy="226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87489F6-FD7C-41D6-8613-4481CADA8436}"/>
              </a:ext>
            </a:extLst>
          </p:cNvPr>
          <p:cNvSpPr/>
          <p:nvPr/>
        </p:nvSpPr>
        <p:spPr>
          <a:xfrm>
            <a:off x="6248400" y="4038600"/>
            <a:ext cx="24003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DFD23E-2888-49D2-B061-01D0A1B0D5BD}"/>
              </a:ext>
            </a:extLst>
          </p:cNvPr>
          <p:cNvSpPr txBox="1"/>
          <p:nvPr/>
        </p:nvSpPr>
        <p:spPr>
          <a:xfrm>
            <a:off x="6350000" y="4978400"/>
            <a:ext cx="2197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2436"/>
                </a:solidFill>
              </a:rPr>
              <a:t>Giữ chân khách hàng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24B29F-5031-49DA-A982-B6AE2A4062D5}"/>
              </a:ext>
            </a:extLst>
          </p:cNvPr>
          <p:cNvSpPr txBox="1"/>
          <p:nvPr/>
        </p:nvSpPr>
        <p:spPr>
          <a:xfrm>
            <a:off x="6375400" y="5537200"/>
            <a:ext cx="21463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vi-VN" sz="1250">
                <a:solidFill>
                  <a:srgbClr val="1F3B4D"/>
                </a:solidFill>
              </a:rPr>
              <a:t>Tích điểm, thăng hạng, đổi thưởng đa hạng.</a:t>
            </a:r>
            <a:endParaRPr lang="en-US" sz="1250">
              <a:solidFill>
                <a:srgbClr val="1F3B4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E73DEAF-33FA-4901-B466-5AA67C991615}"/>
              </a:ext>
            </a:extLst>
          </p:cNvPr>
          <p:cNvSpPr/>
          <p:nvPr/>
        </p:nvSpPr>
        <p:spPr>
          <a:xfrm>
            <a:off x="8953500" y="4038600"/>
            <a:ext cx="2400300" cy="226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39F7E21-2A04-4FED-AEF3-F9A6E0079C76}"/>
              </a:ext>
            </a:extLst>
          </p:cNvPr>
          <p:cNvSpPr/>
          <p:nvPr/>
        </p:nvSpPr>
        <p:spPr>
          <a:xfrm>
            <a:off x="8953500" y="4038600"/>
            <a:ext cx="24003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DCE35F-C055-42E4-989D-C6C99042E4E5}"/>
              </a:ext>
            </a:extLst>
          </p:cNvPr>
          <p:cNvSpPr txBox="1"/>
          <p:nvPr/>
        </p:nvSpPr>
        <p:spPr>
          <a:xfrm>
            <a:off x="9055100" y="4978400"/>
            <a:ext cx="21971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400" b="1">
                <a:solidFill>
                  <a:srgbClr val="0F2436"/>
                </a:solidFill>
              </a:rPr>
              <a:t>Minh bạch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2D312B8-10BB-4083-90E4-BBFE3A7BD9F3}"/>
              </a:ext>
            </a:extLst>
          </p:cNvPr>
          <p:cNvSpPr txBox="1"/>
          <p:nvPr/>
        </p:nvSpPr>
        <p:spPr>
          <a:xfrm>
            <a:off x="9080500" y="5537200"/>
            <a:ext cx="21463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vi-VN" sz="1250">
                <a:solidFill>
                  <a:srgbClr val="1F3B4D"/>
                </a:solidFill>
              </a:rPr>
              <a:t>Ảnh xe + hóa đơn gửi email trước khi thanh toán.</a:t>
            </a:r>
            <a:endParaRPr lang="en-US" sz="1250">
              <a:solidFill>
                <a:srgbClr val="1F3B4D"/>
              </a:solidFill>
            </a:endParaRPr>
          </a:p>
        </p:txBody>
      </p:sp>
      <p:pic>
        <p:nvPicPr>
          <p:cNvPr id="22" name="Graphic 22" descr="Calendar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8000" y="4368800"/>
            <a:ext cx="533400" cy="533400"/>
          </a:xfrm>
          <a:prstGeom prst="rect">
            <a:avLst/>
          </a:prstGeom>
        </p:spPr>
      </p:pic>
      <p:pic>
        <p:nvPicPr>
          <p:cNvPr id="23" name="Graphic 23" descr="Automation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83100" y="4368800"/>
            <a:ext cx="533400" cy="533400"/>
          </a:xfrm>
          <a:prstGeom prst="rect">
            <a:avLst/>
          </a:prstGeom>
        </p:spPr>
      </p:pic>
      <p:pic>
        <p:nvPicPr>
          <p:cNvPr id="24" name="Graphic 24" descr="Loyalt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88200" y="4368800"/>
            <a:ext cx="533400" cy="533400"/>
          </a:xfrm>
          <a:prstGeom prst="rect">
            <a:avLst/>
          </a:prstGeom>
        </p:spPr>
      </p:pic>
      <p:pic>
        <p:nvPicPr>
          <p:cNvPr id="25" name="Graphic 25" descr="Transparency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93300" y="4368800"/>
            <a:ext cx="533400" cy="53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2572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36161-CDEC-5A42-5F40-30787A64C3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Bối cảnh &amp; Thách thức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BDC7CD-3DFF-4F2E-967F-BC87A6FF4B1C}"/>
              </a:ext>
            </a:extLst>
          </p:cNvPr>
          <p:cNvSpPr txBox="1"/>
          <p:nvPr/>
        </p:nvSpPr>
        <p:spPr>
          <a:xfrm>
            <a:off x="838200" y="1854200"/>
            <a:ext cx="105156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vi-VN" sz="1400">
                <a:solidFill>
                  <a:srgbClr val="1F3B4D"/>
                </a:solidFill>
              </a:rPr>
              <a:t>Bối cảnh: Các trạm rửa xe truyền thống vận hành thủ công — đặt lịch qua điện thoại, xếp hàng theo trí nhớ, thu tiền mặt, không lưu lịch sử khách hàng.</a:t>
            </a:r>
            <a:endParaRPr lang="en-US" sz="1400">
              <a:solidFill>
                <a:srgbClr val="1F3B4D"/>
              </a:solidFill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A8DB9C0-929F-434E-A447-9AE9C69D6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8325358"/>
              </p:ext>
            </p:extLst>
          </p:nvPr>
        </p:nvGraphicFramePr>
        <p:xfrm>
          <a:off x="838200" y="2540000"/>
          <a:ext cx="10515600" cy="35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448959621"/>
                    </a:ext>
                  </a:extLst>
                </a:gridCol>
                <a:gridCol w="5435600">
                  <a:extLst>
                    <a:ext uri="{9D8B030D-6E8A-4147-A177-3AD203B41FA5}">
                      <a16:colId xmlns:a16="http://schemas.microsoft.com/office/drawing/2014/main" val="4132325408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Vấn đề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Hệ quả</a:t>
                      </a:r>
                    </a:p>
                  </a:txBody>
                  <a:tcPr anchor="ctr">
                    <a:solidFill>
                      <a:srgbClr val="0891B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56054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Đặt lịch thủ công, dễ trùng/nhầm giờ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Khách chờ lâu, trải nghiệm kém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1075084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Không theo dõi được xe đang ở bước nào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Thiếu thông tin, khó điều phối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0640590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Quy trình phụ thuộc thao tác thủ công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Tốn nhân lực, dễ sai sót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1310785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Không có dữ liệu khách hàng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Khó chăm sóc, không giữ chân khách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13747832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Thanh toán tiền mặt, thiếu minh bạch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Khó đối soát, không có hóa đơn/bằng chứng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2511093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Quản lý quyền sở hữu xe khi mua bán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0F2436"/>
                          </a:solidFill>
                        </a:rPr>
                        <a:t>Nhầm lẫn chủ xe, sai lịch sử dịch vụ</a:t>
                      </a:r>
                    </a:p>
                  </a:txBody>
                  <a:tcPr anchor="ctr">
                    <a:solidFill>
                      <a:srgbClr val="EA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355832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0740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143C8-4864-A4A6-FC5F-C4E60F2B1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Giải pháp đề xuất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67508-3EBC-4C1F-B2ED-3CC0C2844ADC}"/>
              </a:ext>
            </a:extLst>
          </p:cNvPr>
          <p:cNvSpPr txBox="1"/>
          <p:nvPr/>
        </p:nvSpPr>
        <p:spPr>
          <a:xfrm>
            <a:off x="838200" y="1879600"/>
            <a:ext cx="6070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891B2"/>
                </a:solidFill>
              </a:rPr>
              <a:t>Năng lực cốt lõi</a:t>
            </a:r>
          </a:p>
        </p:txBody>
      </p:sp>
      <p:sp>
        <p:nvSpPr>
          <p:cNvPr id="4" name="SolutionBullets">
            <a:extLst>
              <a:ext uri="{FF2B5EF4-FFF2-40B4-BE49-F238E27FC236}">
                <a16:creationId xmlns:a16="http://schemas.microsoft.com/office/drawing/2014/main" id="{A4608CF9-616E-406B-86D5-F549A7143CA4}"/>
              </a:ext>
            </a:extLst>
          </p:cNvPr>
          <p:cNvSpPr txBox="1"/>
          <p:nvPr/>
        </p:nvSpPr>
        <p:spPr>
          <a:xfrm>
            <a:off x="838200" y="2336800"/>
            <a:ext cx="6070600" cy="1908215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Đặt lịch online theo xe, dịch vụ, khung giờ; hỗ trợ dời/hủy lịch.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Theo dõi tiến trình real-time cho khách và nhân viên (SignalR).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Tự động hóa quy trình rửa xe bằng background service.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Tự động chụp ảnh xe + gửi email hóa đơn trước khi thanh toán.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Thanh toán online qua cổng PayOS.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Loyalty đa hạng: tích điểm, thăng hạng, đổi thưởng.</a:t>
            </a:r>
          </a:p>
          <a:p>
            <a:pPr marL="228600" indent="-228600">
              <a:spcBef>
                <a:spcPts val="4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Chuyển quyền sở hữu xe có hồ sơ chứng từ, lưu lịch sử.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7F02BAF-CD0C-439B-8A09-D057981DC1AC}"/>
              </a:ext>
            </a:extLst>
          </p:cNvPr>
          <p:cNvSpPr txBox="1"/>
          <p:nvPr/>
        </p:nvSpPr>
        <p:spPr>
          <a:xfrm>
            <a:off x="7188200" y="1879600"/>
            <a:ext cx="41656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b="1">
                <a:solidFill>
                  <a:srgbClr val="0891B2"/>
                </a:solidFill>
              </a:rPr>
              <a:t>Các tác nhân (Actors)</a:t>
            </a: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9960BFC-5FF4-4D90-91F0-BBD06CFE7B1D}"/>
              </a:ext>
            </a:extLst>
          </p:cNvPr>
          <p:cNvSpPr/>
          <p:nvPr/>
        </p:nvSpPr>
        <p:spPr>
          <a:xfrm>
            <a:off x="7188200" y="2362200"/>
            <a:ext cx="4165600" cy="99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8DB88D0-DEA5-4AD4-8584-BB3E2D3D8E03}"/>
              </a:ext>
            </a:extLst>
          </p:cNvPr>
          <p:cNvSpPr/>
          <p:nvPr/>
        </p:nvSpPr>
        <p:spPr>
          <a:xfrm>
            <a:off x="7188200" y="2362200"/>
            <a:ext cx="88900" cy="9906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35604-C21D-45F4-889D-CA1010F98F6A}"/>
              </a:ext>
            </a:extLst>
          </p:cNvPr>
          <p:cNvSpPr txBox="1"/>
          <p:nvPr/>
        </p:nvSpPr>
        <p:spPr>
          <a:xfrm>
            <a:off x="7416800" y="2489200"/>
            <a:ext cx="3784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2436"/>
                </a:solidFill>
              </a:rPr>
              <a:t>Guest — Khách vãng lai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54E7961-51BB-488B-A8AE-4D7030AE7E5D}"/>
              </a:ext>
            </a:extLst>
          </p:cNvPr>
          <p:cNvSpPr txBox="1"/>
          <p:nvPr/>
        </p:nvSpPr>
        <p:spPr>
          <a:xfrm>
            <a:off x="7416800" y="2819400"/>
            <a:ext cx="3733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3B4D"/>
                </a:solidFill>
              </a:rPr>
              <a:t>Xem trang chủ, đăng ký, đăng nhập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4C87011D-D467-4A44-80F3-DE3F35E6245F}"/>
              </a:ext>
            </a:extLst>
          </p:cNvPr>
          <p:cNvSpPr/>
          <p:nvPr/>
        </p:nvSpPr>
        <p:spPr>
          <a:xfrm>
            <a:off x="7188200" y="3505200"/>
            <a:ext cx="4165600" cy="99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C2C9F2D-0065-4C67-BE53-45C5B269E40E}"/>
              </a:ext>
            </a:extLst>
          </p:cNvPr>
          <p:cNvSpPr/>
          <p:nvPr/>
        </p:nvSpPr>
        <p:spPr>
          <a:xfrm>
            <a:off x="7188200" y="3505200"/>
            <a:ext cx="88900" cy="9906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DBC4AF2-2727-47BD-AB16-B36FA1E4A02F}"/>
              </a:ext>
            </a:extLst>
          </p:cNvPr>
          <p:cNvSpPr txBox="1"/>
          <p:nvPr/>
        </p:nvSpPr>
        <p:spPr>
          <a:xfrm>
            <a:off x="7416800" y="3632200"/>
            <a:ext cx="3784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2436"/>
                </a:solidFill>
              </a:rPr>
              <a:t>Customer — Khách hàng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D3C34E3-AE7F-4B58-ABEF-023B8A9CBC8B}"/>
              </a:ext>
            </a:extLst>
          </p:cNvPr>
          <p:cNvSpPr txBox="1"/>
          <p:nvPr/>
        </p:nvSpPr>
        <p:spPr>
          <a:xfrm>
            <a:off x="7416800" y="3962400"/>
            <a:ext cx="3733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3B4D"/>
                </a:solidFill>
              </a:rPr>
              <a:t>Đặt lịch, quản lý xe, thanh toán, tích điểm, đánh giá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529CE859-7EFD-4EBD-BD5C-750911451368}"/>
              </a:ext>
            </a:extLst>
          </p:cNvPr>
          <p:cNvSpPr/>
          <p:nvPr/>
        </p:nvSpPr>
        <p:spPr>
          <a:xfrm>
            <a:off x="7188200" y="4648200"/>
            <a:ext cx="4165600" cy="99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DD40DBB-2E08-46D5-892A-A79BC45A3C4C}"/>
              </a:ext>
            </a:extLst>
          </p:cNvPr>
          <p:cNvSpPr/>
          <p:nvPr/>
        </p:nvSpPr>
        <p:spPr>
          <a:xfrm>
            <a:off x="7188200" y="4648200"/>
            <a:ext cx="88900" cy="9906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A475541-6E34-49A5-92AD-A5424D47A17C}"/>
              </a:ext>
            </a:extLst>
          </p:cNvPr>
          <p:cNvSpPr txBox="1"/>
          <p:nvPr/>
        </p:nvSpPr>
        <p:spPr>
          <a:xfrm>
            <a:off x="7416800" y="4775200"/>
            <a:ext cx="3784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2436"/>
                </a:solidFill>
              </a:rPr>
              <a:t>Staff — Nhân viên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9D43C69-5493-4297-94B5-CFC8A74E52F7}"/>
              </a:ext>
            </a:extLst>
          </p:cNvPr>
          <p:cNvSpPr txBox="1"/>
          <p:nvPr/>
        </p:nvSpPr>
        <p:spPr>
          <a:xfrm>
            <a:off x="7416800" y="5105400"/>
            <a:ext cx="3733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3B4D"/>
                </a:solidFill>
              </a:rPr>
              <a:t>Quản lý hàng chờ, check-in xe, xử lý booking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5E55CD82-53F1-4158-BA02-6378E4C96860}"/>
              </a:ext>
            </a:extLst>
          </p:cNvPr>
          <p:cNvSpPr/>
          <p:nvPr/>
        </p:nvSpPr>
        <p:spPr>
          <a:xfrm>
            <a:off x="7188200" y="5791200"/>
            <a:ext cx="4165600" cy="990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2CC7ABD-B5E8-4613-A3FE-20C6D74DADC9}"/>
              </a:ext>
            </a:extLst>
          </p:cNvPr>
          <p:cNvSpPr/>
          <p:nvPr/>
        </p:nvSpPr>
        <p:spPr>
          <a:xfrm>
            <a:off x="7188200" y="5791200"/>
            <a:ext cx="88900" cy="9906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C029F5F-4212-4D3B-B614-2FE43CC8141C}"/>
              </a:ext>
            </a:extLst>
          </p:cNvPr>
          <p:cNvSpPr txBox="1"/>
          <p:nvPr/>
        </p:nvSpPr>
        <p:spPr>
          <a:xfrm>
            <a:off x="7416800" y="5918200"/>
            <a:ext cx="3784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500" b="1">
                <a:solidFill>
                  <a:srgbClr val="0F2436"/>
                </a:solidFill>
              </a:rPr>
              <a:t>Admin — Quản trị viên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4FA0BC6-13DF-42F3-B8C5-BAE64413C1E2}"/>
              </a:ext>
            </a:extLst>
          </p:cNvPr>
          <p:cNvSpPr txBox="1"/>
          <p:nvPr/>
        </p:nvSpPr>
        <p:spPr>
          <a:xfrm>
            <a:off x="7416800" y="6248400"/>
            <a:ext cx="3733800" cy="457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300">
                <a:solidFill>
                  <a:srgbClr val="1F3B4D"/>
                </a:solidFill>
              </a:rPr>
              <a:t>Quản trị hệ thống, cấu hình, báo cáo</a:t>
            </a:r>
          </a:p>
        </p:txBody>
      </p:sp>
    </p:spTree>
    <p:extLst>
      <p:ext uri="{BB962C8B-B14F-4D97-AF65-F5344CB8AC3E}">
        <p14:creationId xmlns:p14="http://schemas.microsoft.com/office/powerpoint/2010/main" val="42921814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356FA1-7B30-B680-CCB8-87968E6E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Chức năng chính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862A541-13A7-45D5-A94E-50A472FB15DA}"/>
              </a:ext>
            </a:extLst>
          </p:cNvPr>
          <p:cNvSpPr/>
          <p:nvPr/>
        </p:nvSpPr>
        <p:spPr>
          <a:xfrm>
            <a:off x="838200" y="1905000"/>
            <a:ext cx="3327400" cy="4546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B4AC08-2166-4015-9F07-85187FB23FD1}"/>
              </a:ext>
            </a:extLst>
          </p:cNvPr>
          <p:cNvSpPr/>
          <p:nvPr/>
        </p:nvSpPr>
        <p:spPr>
          <a:xfrm>
            <a:off x="838200" y="1905000"/>
            <a:ext cx="33274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336738B-88A5-4B79-8AE0-D2689A262D5C}"/>
              </a:ext>
            </a:extLst>
          </p:cNvPr>
          <p:cNvSpPr txBox="1"/>
          <p:nvPr/>
        </p:nvSpPr>
        <p:spPr>
          <a:xfrm>
            <a:off x="1041400" y="210820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891B2"/>
                </a:solidFill>
              </a:rPr>
              <a:t>Dành cho Khách hàng</a:t>
            </a:r>
          </a:p>
        </p:txBody>
      </p:sp>
      <p:sp>
        <p:nvSpPr>
          <p:cNvPr id="6" name="col1">
            <a:extLst>
              <a:ext uri="{FF2B5EF4-FFF2-40B4-BE49-F238E27FC236}">
                <a16:creationId xmlns:a16="http://schemas.microsoft.com/office/drawing/2014/main" id="{D48E9497-754F-4B17-A684-7883133561AB}"/>
              </a:ext>
            </a:extLst>
          </p:cNvPr>
          <p:cNvSpPr txBox="1"/>
          <p:nvPr/>
        </p:nvSpPr>
        <p:spPr>
          <a:xfrm>
            <a:off x="1016000" y="2692400"/>
            <a:ext cx="2997200" cy="204671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Xác thực OTP (SĐT) / Google OAuth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Quản lý xe, kiểm tra biển số VN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Đặt lịch: chọn xe, dịch vụ, giờ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Theo dõi real-time theo %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Thanh toán online (PayOS)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Loyalty: tích điểm, đổi thưởng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Lịch sử &amp; đánh giá dịch vụ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EA5EBC7-C1DC-4F09-9DA4-1A017E596B43}"/>
              </a:ext>
            </a:extLst>
          </p:cNvPr>
          <p:cNvSpPr/>
          <p:nvPr/>
        </p:nvSpPr>
        <p:spPr>
          <a:xfrm>
            <a:off x="4432300" y="1905000"/>
            <a:ext cx="3327400" cy="4546600"/>
          </a:xfrm>
          <a:prstGeom prst="roundRect">
            <a:avLst/>
          </a:prstGeom>
          <a:solidFill>
            <a:srgbClr val="EAF4F8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1BEA6D0-A3BC-4577-843D-4918C62E1357}"/>
              </a:ext>
            </a:extLst>
          </p:cNvPr>
          <p:cNvSpPr/>
          <p:nvPr/>
        </p:nvSpPr>
        <p:spPr>
          <a:xfrm>
            <a:off x="4432300" y="1905000"/>
            <a:ext cx="3327400" cy="76200"/>
          </a:xfrm>
          <a:prstGeom prst="rect">
            <a:avLst/>
          </a:prstGeom>
          <a:solidFill>
            <a:srgbClr val="0891B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71F026-0153-4A6F-980C-C748BF273EEC}"/>
              </a:ext>
            </a:extLst>
          </p:cNvPr>
          <p:cNvSpPr txBox="1"/>
          <p:nvPr/>
        </p:nvSpPr>
        <p:spPr>
          <a:xfrm>
            <a:off x="4635500" y="210820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0891B2"/>
                </a:solidFill>
              </a:rPr>
              <a:t>Nhân viên / Quản trị</a:t>
            </a:r>
          </a:p>
        </p:txBody>
      </p:sp>
      <p:sp>
        <p:nvSpPr>
          <p:cNvPr id="10" name="col2">
            <a:extLst>
              <a:ext uri="{FF2B5EF4-FFF2-40B4-BE49-F238E27FC236}">
                <a16:creationId xmlns:a16="http://schemas.microsoft.com/office/drawing/2014/main" id="{B2B67E61-9F14-4AA8-A2CB-2FB1DBF48590}"/>
              </a:ext>
            </a:extLst>
          </p:cNvPr>
          <p:cNvSpPr txBox="1"/>
          <p:nvPr/>
        </p:nvSpPr>
        <p:spPr>
          <a:xfrm>
            <a:off x="4610100" y="2692400"/>
            <a:ext cx="2997200" cy="200824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Quản lý hàng chờ real-time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Quản lý booking + audit log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Quản lý khách / dịch vụ / giao dịch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Cấu hình Loyalty: hạng, điểm, thưởng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Chuyển quyền sở hữu xe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400" dirty="0">
                <a:solidFill>
                  <a:srgbClr val="1F3B4D"/>
                </a:solidFill>
              </a:rPr>
              <a:t>Dashboard &amp; báo cáo có bộ lọc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40E5F76-72F2-4F9A-8556-F400E2410337}"/>
              </a:ext>
            </a:extLst>
          </p:cNvPr>
          <p:cNvSpPr/>
          <p:nvPr/>
        </p:nvSpPr>
        <p:spPr>
          <a:xfrm>
            <a:off x="8026400" y="1905000"/>
            <a:ext cx="3327400" cy="4546600"/>
          </a:xfrm>
          <a:prstGeom prst="roundRect">
            <a:avLst/>
          </a:prstGeom>
          <a:solidFill>
            <a:srgbClr val="0E7490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1DBAD0D-8F82-4939-A8B9-CFD301695999}"/>
              </a:ext>
            </a:extLst>
          </p:cNvPr>
          <p:cNvSpPr txBox="1"/>
          <p:nvPr/>
        </p:nvSpPr>
        <p:spPr>
          <a:xfrm>
            <a:off x="8229600" y="2108200"/>
            <a:ext cx="2921000" cy="558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sz="1600" b="1">
                <a:solidFill>
                  <a:srgbClr val="FFFFFF"/>
                </a:solidFill>
              </a:rPr>
              <a:t>Tự động hóa (điểm nhấn)</a:t>
            </a:r>
          </a:p>
        </p:txBody>
      </p:sp>
      <p:sp>
        <p:nvSpPr>
          <p:cNvPr id="13" name="col3">
            <a:extLst>
              <a:ext uri="{FF2B5EF4-FFF2-40B4-BE49-F238E27FC236}">
                <a16:creationId xmlns:a16="http://schemas.microsoft.com/office/drawing/2014/main" id="{188271A3-05BB-4303-BE3B-75559CE00166}"/>
              </a:ext>
            </a:extLst>
          </p:cNvPr>
          <p:cNvSpPr txBox="1"/>
          <p:nvPr/>
        </p:nvSpPr>
        <p:spPr>
          <a:xfrm>
            <a:off x="8204200" y="2692400"/>
            <a:ext cx="2997200" cy="178510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Quy trình rửa xe tự động do background service điều khiển.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Tự động chụp ảnh xe &amp; gửi email sau khi rửa xong.</a:t>
            </a:r>
          </a:p>
          <a:p>
            <a:pPr marL="200025" indent="-200025">
              <a:spcBef>
                <a:spcPts val="300"/>
              </a:spcBef>
              <a:buFont typeface="Arial"/>
              <a:buChar char="•"/>
            </a:pPr>
            <a:r>
              <a:rPr lang="en-US" sz="1500" dirty="0">
                <a:solidFill>
                  <a:srgbClr val="FFFFFF"/>
                </a:solidFill>
              </a:rPr>
              <a:t>Thông báo real-time đẩy sự kiện tới màn hình nhân viên.</a:t>
            </a:r>
          </a:p>
        </p:txBody>
      </p:sp>
    </p:spTree>
    <p:extLst>
      <p:ext uri="{BB962C8B-B14F-4D97-AF65-F5344CB8AC3E}">
        <p14:creationId xmlns:p14="http://schemas.microsoft.com/office/powerpoint/2010/main" val="31711821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05AD2-018A-2BC4-6B08-4D61BF9EC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Kiến trúc hệ thống</a:t>
            </a:r>
          </a:p>
        </p:txBody>
      </p:sp>
      <p:sp>
        <p:nvSpPr>
          <p:cNvPr id="50" name="box51"/>
          <p:cNvSpPr/>
          <p:nvPr/>
        </p:nvSpPr>
        <p:spPr>
          <a:xfrm>
            <a:off x="838200" y="1930400"/>
            <a:ext cx="7543800" cy="762000"/>
          </a:xfrm>
          <a:prstGeom prst="roundRect">
            <a:avLst/>
          </a:prstGeom>
          <a:solidFill>
            <a:srgbClr val="E3ECFF"/>
          </a:solidFill>
          <a:ln w="15875">
            <a:solidFill>
              <a:srgbClr val="2563EB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500" b="1" dirty="0">
                <a:solidFill>
                  <a:srgbClr val="1E3A8A"/>
                </a:solidFill>
              </a:rPr>
              <a:t>Client — Trình duyệt</a:t>
            </a:r>
          </a:p>
          <a:p>
            <a:pPr algn="ctr"/>
            <a:r>
              <a:rPr lang="en-US" sz="1200" b="0" dirty="0">
                <a:solidFill>
                  <a:srgbClr val="1F3B4D"/>
                </a:solidFill>
              </a:rPr>
              <a:t>React 19 SPA (Vite) · React Router · Axios · Bootstrap · SignalR Client</a:t>
            </a:r>
          </a:p>
        </p:txBody>
      </p:sp>
      <p:sp>
        <p:nvSpPr>
          <p:cNvPr id="51" name="ar52"/>
          <p:cNvSpPr/>
          <p:nvPr/>
        </p:nvSpPr>
        <p:spPr>
          <a:xfrm>
            <a:off x="4495800" y="2717800"/>
            <a:ext cx="228600" cy="279400"/>
          </a:xfrm>
          <a:prstGeom prst="down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2" name="lb53"/>
          <p:cNvSpPr txBox="1"/>
          <p:nvPr/>
        </p:nvSpPr>
        <p:spPr>
          <a:xfrm>
            <a:off x="4800600" y="2743200"/>
            <a:ext cx="3302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200" b="0" i="1" dirty="0">
                <a:solidFill>
                  <a:srgbClr val="155E75"/>
                </a:solidFill>
              </a:rPr>
              <a:t>REST (JSON) · SignalR (WebSocket)</a:t>
            </a:r>
          </a:p>
        </p:txBody>
      </p:sp>
      <p:sp>
        <p:nvSpPr>
          <p:cNvPr id="53" name="box54"/>
          <p:cNvSpPr/>
          <p:nvPr/>
        </p:nvSpPr>
        <p:spPr>
          <a:xfrm>
            <a:off x="838200" y="3048000"/>
            <a:ext cx="7543800" cy="2286000"/>
          </a:xfrm>
          <a:prstGeom prst="roundRect">
            <a:avLst/>
          </a:prstGeom>
          <a:solidFill>
            <a:srgbClr val="EAF4F8"/>
          </a:solidFill>
          <a:ln w="19050">
            <a:solidFill>
              <a:srgbClr val="155E75"/>
            </a:solidFill>
          </a:ln>
        </p:spPr>
        <p:txBody>
          <a:bodyPr lIns="45720" tIns="27432" rIns="45720" bIns="18288" rtlCol="0" anchor="t">
            <a:normAutofit/>
          </a:bodyPr>
          <a:lstStyle/>
          <a:p>
            <a:pPr algn="l"/>
            <a:r>
              <a:rPr lang="en-US" sz="1400" b="1" dirty="0">
                <a:solidFill>
                  <a:srgbClr val="155E75"/>
                </a:solidFill>
              </a:rPr>
              <a:t>Backend — ASP.NET Core Web API</a:t>
            </a:r>
          </a:p>
        </p:txBody>
      </p:sp>
      <p:sp>
        <p:nvSpPr>
          <p:cNvPr id="54" name="box55"/>
          <p:cNvSpPr/>
          <p:nvPr/>
        </p:nvSpPr>
        <p:spPr>
          <a:xfrm>
            <a:off x="1016000" y="3606800"/>
            <a:ext cx="22606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0F2436"/>
                </a:solidFill>
              </a:rPr>
              <a:t>Controllers (REST API)</a:t>
            </a:r>
          </a:p>
        </p:txBody>
      </p:sp>
      <p:sp>
        <p:nvSpPr>
          <p:cNvPr id="55" name="box56"/>
          <p:cNvSpPr/>
          <p:nvPr/>
        </p:nvSpPr>
        <p:spPr>
          <a:xfrm>
            <a:off x="3403600" y="3606800"/>
            <a:ext cx="20828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0F2436"/>
                </a:solidFill>
              </a:rPr>
              <a:t>SignalR Hub</a:t>
            </a:r>
          </a:p>
        </p:txBody>
      </p:sp>
      <p:sp>
        <p:nvSpPr>
          <p:cNvPr id="56" name="box57"/>
          <p:cNvSpPr/>
          <p:nvPr/>
        </p:nvSpPr>
        <p:spPr>
          <a:xfrm>
            <a:off x="5613400" y="3606800"/>
            <a:ext cx="2590800" cy="482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0F2436"/>
                </a:solidFill>
              </a:rPr>
              <a:t>Background Service</a:t>
            </a:r>
          </a:p>
        </p:txBody>
      </p:sp>
      <p:sp>
        <p:nvSpPr>
          <p:cNvPr id="57" name="box58"/>
          <p:cNvSpPr/>
          <p:nvPr/>
        </p:nvSpPr>
        <p:spPr>
          <a:xfrm>
            <a:off x="1016000" y="4191000"/>
            <a:ext cx="7188200" cy="43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F2436"/>
                </a:solidFill>
              </a:rPr>
              <a:t>Services (Business Logic)</a:t>
            </a:r>
          </a:p>
        </p:txBody>
      </p:sp>
      <p:sp>
        <p:nvSpPr>
          <p:cNvPr id="58" name="box59"/>
          <p:cNvSpPr/>
          <p:nvPr/>
        </p:nvSpPr>
        <p:spPr>
          <a:xfrm>
            <a:off x="1016000" y="4724400"/>
            <a:ext cx="7188200" cy="431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891B2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200" b="0" dirty="0">
                <a:solidFill>
                  <a:srgbClr val="0F2436"/>
                </a:solidFill>
              </a:rPr>
              <a:t>EF Core + Npgsql (ORM)</a:t>
            </a:r>
          </a:p>
        </p:txBody>
      </p:sp>
      <p:sp>
        <p:nvSpPr>
          <p:cNvPr id="59" name="ar60"/>
          <p:cNvSpPr/>
          <p:nvPr/>
        </p:nvSpPr>
        <p:spPr>
          <a:xfrm>
            <a:off x="4495800" y="5334000"/>
            <a:ext cx="228600" cy="2032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0" name="lb61"/>
          <p:cNvSpPr txBox="1"/>
          <p:nvPr/>
        </p:nvSpPr>
        <p:spPr>
          <a:xfrm>
            <a:off x="4800600" y="5334000"/>
            <a:ext cx="1524000" cy="203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200" b="0" i="1" dirty="0">
                <a:solidFill>
                  <a:srgbClr val="155E75"/>
                </a:solidFill>
              </a:rPr>
              <a:t>EF Core</a:t>
            </a:r>
          </a:p>
        </p:txBody>
      </p:sp>
      <p:sp>
        <p:nvSpPr>
          <p:cNvPr id="61" name="box62"/>
          <p:cNvSpPr/>
          <p:nvPr/>
        </p:nvSpPr>
        <p:spPr>
          <a:xfrm>
            <a:off x="838200" y="5537200"/>
            <a:ext cx="7543800" cy="711200"/>
          </a:xfrm>
          <a:prstGeom prst="roundRect">
            <a:avLst/>
          </a:prstGeom>
          <a:solidFill>
            <a:srgbClr val="E0F7F4"/>
          </a:solidFill>
          <a:ln w="15875">
            <a:solidFill>
              <a:srgbClr val="14B8A6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155E75"/>
                </a:solidFill>
              </a:rPr>
              <a:t>PostgreSQL — Supabase (Cơ sở dữ liệu)</a:t>
            </a:r>
          </a:p>
        </p:txBody>
      </p:sp>
      <p:sp>
        <p:nvSpPr>
          <p:cNvPr id="62" name="lb63"/>
          <p:cNvSpPr txBox="1"/>
          <p:nvPr/>
        </p:nvSpPr>
        <p:spPr>
          <a:xfrm>
            <a:off x="8763000" y="1905000"/>
            <a:ext cx="2590800" cy="254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400" b="1" i="1" dirty="0">
                <a:solidFill>
                  <a:srgbClr val="B45309"/>
                </a:solidFill>
              </a:rPr>
              <a:t>Dịch vụ ngoài</a:t>
            </a:r>
          </a:p>
        </p:txBody>
      </p:sp>
      <p:sp>
        <p:nvSpPr>
          <p:cNvPr id="63" name="box64"/>
          <p:cNvSpPr/>
          <p:nvPr/>
        </p:nvSpPr>
        <p:spPr>
          <a:xfrm>
            <a:off x="8763000" y="2286000"/>
            <a:ext cx="2590800" cy="838200"/>
          </a:xfrm>
          <a:prstGeom prst="roundRect">
            <a:avLst/>
          </a:prstGeom>
          <a:solidFill>
            <a:srgbClr val="FFF4E0"/>
          </a:solidFill>
          <a:ln w="15875">
            <a:solidFill>
              <a:srgbClr val="F59E0B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92400E"/>
                </a:solidFill>
              </a:rPr>
              <a:t>PayOS</a:t>
            </a:r>
          </a:p>
          <a:p>
            <a:pPr algn="ctr"/>
            <a:r>
              <a:rPr lang="en-US" sz="1100" b="0" dirty="0">
                <a:solidFill>
                  <a:srgbClr val="7C4A03"/>
                </a:solidFill>
              </a:rPr>
              <a:t>Thanh toán + Webhook</a:t>
            </a:r>
          </a:p>
        </p:txBody>
      </p:sp>
      <p:sp>
        <p:nvSpPr>
          <p:cNvPr id="64" name="box65"/>
          <p:cNvSpPr/>
          <p:nvPr/>
        </p:nvSpPr>
        <p:spPr>
          <a:xfrm>
            <a:off x="8763000" y="3251200"/>
            <a:ext cx="2590800" cy="838200"/>
          </a:xfrm>
          <a:prstGeom prst="roundRect">
            <a:avLst/>
          </a:prstGeom>
          <a:solidFill>
            <a:srgbClr val="FFF4E0"/>
          </a:solidFill>
          <a:ln w="15875">
            <a:solidFill>
              <a:srgbClr val="F59E0B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92400E"/>
                </a:solidFill>
              </a:rPr>
              <a:t>Email</a:t>
            </a:r>
          </a:p>
          <a:p>
            <a:pPr algn="ctr"/>
            <a:r>
              <a:rPr lang="en-US" sz="1100" b="0" dirty="0">
                <a:solidFill>
                  <a:srgbClr val="7C4A03"/>
                </a:solidFill>
              </a:rPr>
              <a:t>Ảnh / Hóa đơn / OTP</a:t>
            </a:r>
          </a:p>
        </p:txBody>
      </p:sp>
      <p:sp>
        <p:nvSpPr>
          <p:cNvPr id="65" name="box66"/>
          <p:cNvSpPr/>
          <p:nvPr/>
        </p:nvSpPr>
        <p:spPr>
          <a:xfrm>
            <a:off x="8763000" y="4216400"/>
            <a:ext cx="2590800" cy="838200"/>
          </a:xfrm>
          <a:prstGeom prst="roundRect">
            <a:avLst/>
          </a:prstGeom>
          <a:solidFill>
            <a:srgbClr val="FFF4E0"/>
          </a:solidFill>
          <a:ln w="15875">
            <a:solidFill>
              <a:srgbClr val="F59E0B"/>
            </a:solidFill>
          </a:ln>
        </p:spPr>
        <p:txBody>
          <a:bodyPr lIns="45720" tIns="27432" rIns="45720" bIns="18288" rtlCol="0" anchor="ctr">
            <a:normAutofit/>
          </a:bodyPr>
          <a:lstStyle/>
          <a:p>
            <a:pPr algn="ctr"/>
            <a:r>
              <a:rPr lang="en-US" sz="1400" b="1" dirty="0">
                <a:solidFill>
                  <a:srgbClr val="92400E"/>
                </a:solidFill>
              </a:rPr>
              <a:t>Google OAuth</a:t>
            </a:r>
          </a:p>
          <a:p>
            <a:pPr algn="ctr"/>
            <a:r>
              <a:rPr lang="en-US" sz="1100" b="0" dirty="0">
                <a:solidFill>
                  <a:srgbClr val="7C4A03"/>
                </a:solidFill>
              </a:rPr>
              <a:t>Đăng nhập</a:t>
            </a:r>
          </a:p>
        </p:txBody>
      </p:sp>
      <p:sp>
        <p:nvSpPr>
          <p:cNvPr id="66" name="ar67"/>
          <p:cNvSpPr/>
          <p:nvPr/>
        </p:nvSpPr>
        <p:spPr>
          <a:xfrm>
            <a:off x="8407400" y="2590800"/>
            <a:ext cx="330200" cy="203200"/>
          </a:xfrm>
          <a:prstGeom prst="leftRightArrow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ar68"/>
          <p:cNvSpPr/>
          <p:nvPr/>
        </p:nvSpPr>
        <p:spPr>
          <a:xfrm>
            <a:off x="8407400" y="3556000"/>
            <a:ext cx="330200" cy="203200"/>
          </a:xfrm>
          <a:prstGeom prst="leftRightArrow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8" name="ar69"/>
          <p:cNvSpPr/>
          <p:nvPr/>
        </p:nvSpPr>
        <p:spPr>
          <a:xfrm>
            <a:off x="8407400" y="4521200"/>
            <a:ext cx="330200" cy="203200"/>
          </a:xfrm>
          <a:prstGeom prst="leftRightArrow">
            <a:avLst/>
          </a:prstGeom>
          <a:solidFill>
            <a:srgbClr val="F59E0B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431226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3376F-CE8D-CE4D-D397-9C1B5935D4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vi-VN"/>
              <a:t>Thiết kế cơ sở dữ liệu (ERD)</a:t>
            </a:r>
            <a:endParaRPr lang="en-US"/>
          </a:p>
        </p:txBody>
      </p:sp>
      <p:sp>
        <p:nvSpPr>
          <p:cNvPr id="60" name="l61"/>
          <p:cNvSpPr txBox="1"/>
          <p:nvPr/>
        </p:nvSpPr>
        <p:spPr>
          <a:xfrm>
            <a:off x="838200" y="1752600"/>
            <a:ext cx="10515600" cy="254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400" b="0" dirty="0">
                <a:solidFill>
                  <a:srgbClr val="1F3B4D"/>
                </a:solidFill>
              </a:rPr>
              <a:t>PostgreSQL — khoảng 25 bảng, tổ chức quanh 4 nhóm chính. Sơ đồ dưới thể hiện chuỗi thực thể cốt lõi.</a:t>
            </a:r>
          </a:p>
        </p:txBody>
      </p:sp>
      <p:sp>
        <p:nvSpPr>
          <p:cNvPr id="61" name="b62"/>
          <p:cNvSpPr/>
          <p:nvPr/>
        </p:nvSpPr>
        <p:spPr>
          <a:xfrm>
            <a:off x="838200" y="2133600"/>
            <a:ext cx="17780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 lIns="36576" tIns="18288" rIns="36576" bIns="12192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891B2"/>
                </a:solidFill>
              </a:rPr>
              <a:t>ACCOUNT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AccountId · Email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Role · GoogleId</a:t>
            </a:r>
          </a:p>
        </p:txBody>
      </p:sp>
      <p:sp>
        <p:nvSpPr>
          <p:cNvPr id="62" name="b63"/>
          <p:cNvSpPr/>
          <p:nvPr/>
        </p:nvSpPr>
        <p:spPr>
          <a:xfrm>
            <a:off x="3022600" y="2133600"/>
            <a:ext cx="17780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 lIns="36576" tIns="18288" rIns="36576" bIns="12192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891B2"/>
                </a:solidFill>
              </a:rPr>
              <a:t>CUSTOMER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CustomerId · TierId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RankingBalance</a:t>
            </a:r>
          </a:p>
        </p:txBody>
      </p:sp>
      <p:sp>
        <p:nvSpPr>
          <p:cNvPr id="63" name="b64"/>
          <p:cNvSpPr/>
          <p:nvPr/>
        </p:nvSpPr>
        <p:spPr>
          <a:xfrm>
            <a:off x="5207000" y="2133600"/>
            <a:ext cx="17780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 lIns="36576" tIns="18288" rIns="36576" bIns="12192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891B2"/>
                </a:solidFill>
              </a:rPr>
              <a:t>VEHICLE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VehicleId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LicensePlate</a:t>
            </a:r>
          </a:p>
        </p:txBody>
      </p:sp>
      <p:sp>
        <p:nvSpPr>
          <p:cNvPr id="64" name="b65"/>
          <p:cNvSpPr/>
          <p:nvPr/>
        </p:nvSpPr>
        <p:spPr>
          <a:xfrm>
            <a:off x="7391400" y="2133600"/>
            <a:ext cx="17780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 lIns="36576" tIns="18288" rIns="36576" bIns="12192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891B2"/>
                </a:solidFill>
              </a:rPr>
              <a:t>BOOKING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BookingId · Status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CheckedOutAt</a:t>
            </a:r>
          </a:p>
        </p:txBody>
      </p:sp>
      <p:sp>
        <p:nvSpPr>
          <p:cNvPr id="65" name="b66"/>
          <p:cNvSpPr/>
          <p:nvPr/>
        </p:nvSpPr>
        <p:spPr>
          <a:xfrm>
            <a:off x="9575800" y="2133600"/>
            <a:ext cx="1778000" cy="8128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0891B2"/>
            </a:solidFill>
          </a:ln>
        </p:spPr>
        <p:txBody>
          <a:bodyPr lIns="36576" tIns="18288" rIns="36576" bIns="12192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0891B2"/>
                </a:solidFill>
              </a:rPr>
              <a:t>PAYMENT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PaymentId</a:t>
            </a:r>
          </a:p>
          <a:p>
            <a:pPr algn="ctr"/>
            <a:r>
              <a:rPr lang="en-US" sz="1100" b="0" dirty="0">
                <a:solidFill>
                  <a:srgbClr val="1F3B4D"/>
                </a:solidFill>
              </a:rPr>
              <a:t>Amount · PaidAt</a:t>
            </a:r>
          </a:p>
        </p:txBody>
      </p:sp>
      <p:cxnSp>
        <p:nvCxnSpPr>
          <p:cNvPr id="66" name="c67"/>
          <p:cNvCxnSpPr/>
          <p:nvPr/>
        </p:nvCxnSpPr>
        <p:spPr>
          <a:xfrm>
            <a:off x="2616200" y="2540000"/>
            <a:ext cx="406400" cy="0"/>
          </a:xfrm>
          <a:prstGeom prst="line">
            <a:avLst/>
          </a:prstGeom>
          <a:ln w="19050">
            <a:solidFill>
              <a:srgbClr val="155E75"/>
            </a:solidFill>
          </a:ln>
        </p:spPr>
      </p:cxnSp>
      <p:sp>
        <p:nvSpPr>
          <p:cNvPr id="67" name="l68"/>
          <p:cNvSpPr txBox="1"/>
          <p:nvPr/>
        </p:nvSpPr>
        <p:spPr>
          <a:xfrm>
            <a:off x="2540000" y="2057400"/>
            <a:ext cx="558800" cy="203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155E75"/>
                </a:solidFill>
              </a:rPr>
              <a:t>1 : 1</a:t>
            </a:r>
          </a:p>
        </p:txBody>
      </p:sp>
      <p:cxnSp>
        <p:nvCxnSpPr>
          <p:cNvPr id="68" name="c69"/>
          <p:cNvCxnSpPr/>
          <p:nvPr/>
        </p:nvCxnSpPr>
        <p:spPr>
          <a:xfrm>
            <a:off x="4800600" y="2540000"/>
            <a:ext cx="406400" cy="0"/>
          </a:xfrm>
          <a:prstGeom prst="line">
            <a:avLst/>
          </a:prstGeom>
          <a:ln w="19050">
            <a:solidFill>
              <a:srgbClr val="155E75"/>
            </a:solidFill>
          </a:ln>
        </p:spPr>
      </p:cxnSp>
      <p:sp>
        <p:nvSpPr>
          <p:cNvPr id="69" name="l70"/>
          <p:cNvSpPr txBox="1"/>
          <p:nvPr/>
        </p:nvSpPr>
        <p:spPr>
          <a:xfrm>
            <a:off x="4724400" y="2057400"/>
            <a:ext cx="558800" cy="203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155E75"/>
                </a:solidFill>
              </a:rPr>
              <a:t>1 : N</a:t>
            </a:r>
          </a:p>
        </p:txBody>
      </p:sp>
      <p:cxnSp>
        <p:nvCxnSpPr>
          <p:cNvPr id="70" name="c71"/>
          <p:cNvCxnSpPr/>
          <p:nvPr/>
        </p:nvCxnSpPr>
        <p:spPr>
          <a:xfrm>
            <a:off x="6985000" y="2540000"/>
            <a:ext cx="406400" cy="0"/>
          </a:xfrm>
          <a:prstGeom prst="line">
            <a:avLst/>
          </a:prstGeom>
          <a:ln w="19050">
            <a:solidFill>
              <a:srgbClr val="155E75"/>
            </a:solidFill>
          </a:ln>
        </p:spPr>
      </p:cxnSp>
      <p:sp>
        <p:nvSpPr>
          <p:cNvPr id="71" name="l72"/>
          <p:cNvSpPr txBox="1"/>
          <p:nvPr/>
        </p:nvSpPr>
        <p:spPr>
          <a:xfrm>
            <a:off x="6908800" y="2057400"/>
            <a:ext cx="558800" cy="203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155E75"/>
                </a:solidFill>
              </a:rPr>
              <a:t>1 : N</a:t>
            </a:r>
          </a:p>
        </p:txBody>
      </p:sp>
      <p:cxnSp>
        <p:nvCxnSpPr>
          <p:cNvPr id="72" name="c73"/>
          <p:cNvCxnSpPr/>
          <p:nvPr/>
        </p:nvCxnSpPr>
        <p:spPr>
          <a:xfrm>
            <a:off x="9169400" y="2540000"/>
            <a:ext cx="406400" cy="0"/>
          </a:xfrm>
          <a:prstGeom prst="line">
            <a:avLst/>
          </a:prstGeom>
          <a:ln w="19050">
            <a:solidFill>
              <a:srgbClr val="155E75"/>
            </a:solidFill>
          </a:ln>
        </p:spPr>
      </p:cxnSp>
      <p:sp>
        <p:nvSpPr>
          <p:cNvPr id="73" name="l74"/>
          <p:cNvSpPr txBox="1"/>
          <p:nvPr/>
        </p:nvSpPr>
        <p:spPr>
          <a:xfrm>
            <a:off x="9093200" y="2057400"/>
            <a:ext cx="558800" cy="2032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100" b="1" dirty="0">
                <a:solidFill>
                  <a:srgbClr val="155E75"/>
                </a:solidFill>
              </a:rPr>
              <a:t>1 : N</a:t>
            </a:r>
          </a:p>
        </p:txBody>
      </p:sp>
      <p:sp>
        <p:nvSpPr>
          <p:cNvPr id="74" name="b75"/>
          <p:cNvSpPr/>
          <p:nvPr/>
        </p:nvSpPr>
        <p:spPr>
          <a:xfrm>
            <a:off x="838200" y="3479800"/>
            <a:ext cx="2476500" cy="284480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2563EB"/>
            </a:solidFill>
          </a:ln>
        </p:spPr>
        <p:txBody>
          <a:bodyPr lIns="36576" tIns="18288" rIns="36576" bIns="12192" rtlCol="0" anchor="t">
            <a:normAutofit/>
          </a:bodyPr>
          <a:lstStyle/>
          <a:p>
            <a:endParaRPr/>
          </a:p>
        </p:txBody>
      </p:sp>
      <p:sp>
        <p:nvSpPr>
          <p:cNvPr id="75" name="hh76"/>
          <p:cNvSpPr/>
          <p:nvPr/>
        </p:nvSpPr>
        <p:spPr>
          <a:xfrm>
            <a:off x="838200" y="3479800"/>
            <a:ext cx="2476500" cy="482600"/>
          </a:xfrm>
          <a:prstGeom prst="roundRect">
            <a:avLst>
              <a:gd name="adj" fmla="val 16667"/>
            </a:avLst>
          </a:prstGeom>
          <a:solidFill>
            <a:srgbClr val="2563EB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Tài khoản &amp; Khách hàng</a:t>
            </a:r>
          </a:p>
        </p:txBody>
      </p:sp>
      <p:sp>
        <p:nvSpPr>
          <p:cNvPr id="76" name="it77"/>
          <p:cNvSpPr txBox="1"/>
          <p:nvPr/>
        </p:nvSpPr>
        <p:spPr>
          <a:xfrm>
            <a:off x="965200" y="4038600"/>
            <a:ext cx="2247900" cy="21844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accounts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customers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vehicles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otp_verifications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notifications</a:t>
            </a:r>
          </a:p>
        </p:txBody>
      </p:sp>
      <p:sp>
        <p:nvSpPr>
          <p:cNvPr id="77" name="b78"/>
          <p:cNvSpPr/>
          <p:nvPr/>
        </p:nvSpPr>
        <p:spPr>
          <a:xfrm>
            <a:off x="3619500" y="3479800"/>
            <a:ext cx="2476500" cy="284480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0E7490"/>
            </a:solidFill>
          </a:ln>
        </p:spPr>
        <p:txBody>
          <a:bodyPr lIns="36576" tIns="18288" rIns="36576" bIns="12192" rtlCol="0" anchor="t">
            <a:normAutofit/>
          </a:bodyPr>
          <a:lstStyle/>
          <a:p>
            <a:endParaRPr/>
          </a:p>
        </p:txBody>
      </p:sp>
      <p:sp>
        <p:nvSpPr>
          <p:cNvPr id="78" name="hh79"/>
          <p:cNvSpPr/>
          <p:nvPr/>
        </p:nvSpPr>
        <p:spPr>
          <a:xfrm>
            <a:off x="3619500" y="3479800"/>
            <a:ext cx="2476500" cy="482600"/>
          </a:xfrm>
          <a:prstGeom prst="roundRect">
            <a:avLst>
              <a:gd name="adj" fmla="val 16667"/>
            </a:avLst>
          </a:prstGeom>
          <a:solidFill>
            <a:srgbClr val="0E7490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Đặt lịch &amp; Hàng chờ</a:t>
            </a:r>
          </a:p>
        </p:txBody>
      </p:sp>
      <p:sp>
        <p:nvSpPr>
          <p:cNvPr id="79" name="it80"/>
          <p:cNvSpPr txBox="1"/>
          <p:nvPr/>
        </p:nvSpPr>
        <p:spPr>
          <a:xfrm>
            <a:off x="3746500" y="4038600"/>
            <a:ext cx="2247900" cy="21844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bookings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booking_services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services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service_categories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queues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payments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reviews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booking_audit_logs</a:t>
            </a:r>
          </a:p>
        </p:txBody>
      </p:sp>
      <p:sp>
        <p:nvSpPr>
          <p:cNvPr id="80" name="b81"/>
          <p:cNvSpPr/>
          <p:nvPr/>
        </p:nvSpPr>
        <p:spPr>
          <a:xfrm>
            <a:off x="6400800" y="3479800"/>
            <a:ext cx="2476500" cy="284480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0F766E"/>
            </a:solidFill>
          </a:ln>
        </p:spPr>
        <p:txBody>
          <a:bodyPr lIns="36576" tIns="18288" rIns="36576" bIns="12192" rtlCol="0" anchor="t">
            <a:normAutofit/>
          </a:bodyPr>
          <a:lstStyle/>
          <a:p>
            <a:endParaRPr/>
          </a:p>
        </p:txBody>
      </p:sp>
      <p:sp>
        <p:nvSpPr>
          <p:cNvPr id="81" name="hh82"/>
          <p:cNvSpPr/>
          <p:nvPr/>
        </p:nvSpPr>
        <p:spPr>
          <a:xfrm>
            <a:off x="6400800" y="3479800"/>
            <a:ext cx="2476500" cy="482600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Loyalty</a:t>
            </a:r>
          </a:p>
        </p:txBody>
      </p:sp>
      <p:sp>
        <p:nvSpPr>
          <p:cNvPr id="82" name="it83"/>
          <p:cNvSpPr txBox="1"/>
          <p:nvPr/>
        </p:nvSpPr>
        <p:spPr>
          <a:xfrm>
            <a:off x="6527800" y="4038600"/>
            <a:ext cx="2247900" cy="21844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tiers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tier_perks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rewards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reward_redemptions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loyalty_transactions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tier_change_logs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loyalty_config</a:t>
            </a:r>
          </a:p>
        </p:txBody>
      </p:sp>
      <p:sp>
        <p:nvSpPr>
          <p:cNvPr id="83" name="b84"/>
          <p:cNvSpPr/>
          <p:nvPr/>
        </p:nvSpPr>
        <p:spPr>
          <a:xfrm>
            <a:off x="9182100" y="3479800"/>
            <a:ext cx="2476500" cy="2844800"/>
          </a:xfrm>
          <a:prstGeom prst="roundRect">
            <a:avLst/>
          </a:prstGeom>
          <a:solidFill>
            <a:srgbClr val="F7FBFD"/>
          </a:solidFill>
          <a:ln w="12700">
            <a:solidFill>
              <a:srgbClr val="B45309"/>
            </a:solidFill>
          </a:ln>
        </p:spPr>
        <p:txBody>
          <a:bodyPr lIns="36576" tIns="18288" rIns="36576" bIns="12192" rtlCol="0" anchor="t">
            <a:normAutofit/>
          </a:bodyPr>
          <a:lstStyle/>
          <a:p>
            <a:endParaRPr/>
          </a:p>
        </p:txBody>
      </p:sp>
      <p:sp>
        <p:nvSpPr>
          <p:cNvPr id="84" name="hh85"/>
          <p:cNvSpPr/>
          <p:nvPr/>
        </p:nvSpPr>
        <p:spPr>
          <a:xfrm>
            <a:off x="9182100" y="3479800"/>
            <a:ext cx="2476500" cy="482600"/>
          </a:xfrm>
          <a:prstGeom prst="roundRect">
            <a:avLst>
              <a:gd name="adj" fmla="val 16667"/>
            </a:avLst>
          </a:prstGeom>
          <a:solidFill>
            <a:srgbClr val="B45309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200" b="1" dirty="0">
                <a:solidFill>
                  <a:srgbClr val="FFFFFF"/>
                </a:solidFill>
              </a:rPr>
              <a:t>Chuyển quyền sở hữu</a:t>
            </a:r>
          </a:p>
        </p:txBody>
      </p:sp>
      <p:sp>
        <p:nvSpPr>
          <p:cNvPr id="85" name="it86"/>
          <p:cNvSpPr txBox="1"/>
          <p:nvPr/>
        </p:nvSpPr>
        <p:spPr>
          <a:xfrm>
            <a:off x="9309100" y="4038600"/>
            <a:ext cx="2247900" cy="21844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ownership_transfer_requests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ownership_transfer_documents</a:t>
            </a:r>
          </a:p>
          <a:p>
            <a:pPr algn="l">
              <a:spcBef>
                <a:spcPts val="150"/>
              </a:spcBef>
            </a:pPr>
            <a:r>
              <a:rPr lang="en-US" sz="1100" dirty="0">
                <a:solidFill>
                  <a:srgbClr val="1F3B4D"/>
                </a:solidFill>
              </a:rPr>
              <a:t>• vehicle_ownership_history</a:t>
            </a:r>
          </a:p>
        </p:txBody>
      </p:sp>
    </p:spTree>
    <p:extLst>
      <p:ext uri="{BB962C8B-B14F-4D97-AF65-F5344CB8AC3E}">
        <p14:creationId xmlns:p14="http://schemas.microsoft.com/office/powerpoint/2010/main" val="15174537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D571CA-4DEE-0086-0DCC-7D0E99C8D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Công nghệ sử dụng</a:t>
            </a:r>
          </a:p>
        </p:txBody>
      </p:sp>
      <p:sp>
        <p:nvSpPr>
          <p:cNvPr id="60" name="cd61"/>
          <p:cNvSpPr/>
          <p:nvPr/>
        </p:nvSpPr>
        <p:spPr>
          <a:xfrm>
            <a:off x="838200" y="19050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2563EB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1" name="hd62"/>
          <p:cNvSpPr/>
          <p:nvPr/>
        </p:nvSpPr>
        <p:spPr>
          <a:xfrm>
            <a:off x="838200" y="19050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2563EB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Frontend</a:t>
            </a:r>
          </a:p>
        </p:txBody>
      </p:sp>
      <p:sp>
        <p:nvSpPr>
          <p:cNvPr id="62" name="bd63"/>
          <p:cNvSpPr txBox="1"/>
          <p:nvPr/>
        </p:nvSpPr>
        <p:spPr>
          <a:xfrm>
            <a:off x="990600" y="25146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React 19 · Vite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React Router 7 · Axios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Bootstrap 5.3 · Font Awesome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SignalR Client</a:t>
            </a:r>
          </a:p>
        </p:txBody>
      </p:sp>
      <p:sp>
        <p:nvSpPr>
          <p:cNvPr id="63" name="cd64"/>
          <p:cNvSpPr/>
          <p:nvPr/>
        </p:nvSpPr>
        <p:spPr>
          <a:xfrm>
            <a:off x="3543300" y="19050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0891B2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hd65"/>
          <p:cNvSpPr/>
          <p:nvPr/>
        </p:nvSpPr>
        <p:spPr>
          <a:xfrm>
            <a:off x="3543300" y="19050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E7490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Backend</a:t>
            </a:r>
          </a:p>
        </p:txBody>
      </p:sp>
      <p:sp>
        <p:nvSpPr>
          <p:cNvPr id="65" name="bd66"/>
          <p:cNvSpPr txBox="1"/>
          <p:nvPr/>
        </p:nvSpPr>
        <p:spPr>
          <a:xfrm>
            <a:off x="3695700" y="25146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ASP.NET Core Web API (C#)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Entity Framework Core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SignalR (real-time)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Hosted Background Service</a:t>
            </a:r>
          </a:p>
        </p:txBody>
      </p:sp>
      <p:sp>
        <p:nvSpPr>
          <p:cNvPr id="66" name="cd67"/>
          <p:cNvSpPr/>
          <p:nvPr/>
        </p:nvSpPr>
        <p:spPr>
          <a:xfrm>
            <a:off x="6248400" y="19050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155E75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hd68"/>
          <p:cNvSpPr/>
          <p:nvPr/>
        </p:nvSpPr>
        <p:spPr>
          <a:xfrm>
            <a:off x="6248400" y="19050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155E75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Database</a:t>
            </a:r>
          </a:p>
        </p:txBody>
      </p:sp>
      <p:sp>
        <p:nvSpPr>
          <p:cNvPr id="68" name="bd69"/>
          <p:cNvSpPr txBox="1"/>
          <p:nvPr/>
        </p:nvSpPr>
        <p:spPr>
          <a:xfrm>
            <a:off x="6400800" y="25146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PostgreSQL (Npgsql)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Lược đồ ~25 bảng</a:t>
            </a:r>
          </a:p>
        </p:txBody>
      </p:sp>
      <p:sp>
        <p:nvSpPr>
          <p:cNvPr id="69" name="cd70"/>
          <p:cNvSpPr/>
          <p:nvPr/>
        </p:nvSpPr>
        <p:spPr>
          <a:xfrm>
            <a:off x="8953500" y="19050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14B8A6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hd71"/>
          <p:cNvSpPr/>
          <p:nvPr/>
        </p:nvSpPr>
        <p:spPr>
          <a:xfrm>
            <a:off x="8953500" y="19050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F766E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Xác thực</a:t>
            </a:r>
          </a:p>
        </p:txBody>
      </p:sp>
      <p:sp>
        <p:nvSpPr>
          <p:cNvPr id="71" name="bd72"/>
          <p:cNvSpPr txBox="1"/>
          <p:nvPr/>
        </p:nvSpPr>
        <p:spPr>
          <a:xfrm>
            <a:off x="9105900" y="25146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Session-based auth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OTP (SĐT)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Google OAuth</a:t>
            </a:r>
          </a:p>
        </p:txBody>
      </p:sp>
      <p:sp>
        <p:nvSpPr>
          <p:cNvPr id="72" name="cd73"/>
          <p:cNvSpPr/>
          <p:nvPr/>
        </p:nvSpPr>
        <p:spPr>
          <a:xfrm>
            <a:off x="838200" y="42164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2563EB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hd74"/>
          <p:cNvSpPr/>
          <p:nvPr/>
        </p:nvSpPr>
        <p:spPr>
          <a:xfrm>
            <a:off x="838200" y="42164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2563EB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AI / Tự động hóa</a:t>
            </a:r>
          </a:p>
        </p:txBody>
      </p:sp>
      <p:sp>
        <p:nvSpPr>
          <p:cNvPr id="74" name="bd75"/>
          <p:cNvSpPr txBox="1"/>
          <p:nvPr/>
        </p:nvSpPr>
        <p:spPr>
          <a:xfrm>
            <a:off x="990600" y="48260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Nhận diện biển số (LPR)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Tự động chụp ảnh xe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Pipeline chuyển bước</a:t>
            </a:r>
          </a:p>
        </p:txBody>
      </p:sp>
      <p:sp>
        <p:nvSpPr>
          <p:cNvPr id="75" name="cd76"/>
          <p:cNvSpPr/>
          <p:nvPr/>
        </p:nvSpPr>
        <p:spPr>
          <a:xfrm>
            <a:off x="3543300" y="42164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F59E0B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6" name="hd77"/>
          <p:cNvSpPr/>
          <p:nvPr/>
        </p:nvSpPr>
        <p:spPr>
          <a:xfrm>
            <a:off x="3543300" y="42164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B45309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Thanh toán</a:t>
            </a:r>
          </a:p>
        </p:txBody>
      </p:sp>
      <p:sp>
        <p:nvSpPr>
          <p:cNvPr id="77" name="bd78"/>
          <p:cNvSpPr txBox="1"/>
          <p:nvPr/>
        </p:nvSpPr>
        <p:spPr>
          <a:xfrm>
            <a:off x="3695700" y="48260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PayOS — cổng online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Webhook xác nhận</a:t>
            </a:r>
          </a:p>
        </p:txBody>
      </p:sp>
      <p:sp>
        <p:nvSpPr>
          <p:cNvPr id="78" name="cd79"/>
          <p:cNvSpPr/>
          <p:nvPr/>
        </p:nvSpPr>
        <p:spPr>
          <a:xfrm>
            <a:off x="6248400" y="42164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F7FBFD"/>
          </a:solidFill>
          <a:ln w="9525">
            <a:solidFill>
              <a:srgbClr val="0891B2">
                <a:alpha val="45000"/>
              </a:srgbClr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9" name="hd80"/>
          <p:cNvSpPr/>
          <p:nvPr/>
        </p:nvSpPr>
        <p:spPr>
          <a:xfrm>
            <a:off x="6248400" y="4216400"/>
            <a:ext cx="2400300" cy="508000"/>
          </a:xfrm>
          <a:prstGeom prst="round2SameRect">
            <a:avLst>
              <a:gd name="adj1" fmla="val 12000"/>
              <a:gd name="adj2" fmla="val 0"/>
            </a:avLst>
          </a:prstGeom>
          <a:solidFill>
            <a:srgbClr val="0E7490"/>
          </a:solidFill>
          <a:ln>
            <a:noFill/>
          </a:ln>
        </p:spPr>
        <p:txBody>
          <a:bodyPr lIns="18288" tIns="0" rIns="18288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</a:rPr>
              <a:t>Cloud / Deployment</a:t>
            </a:r>
          </a:p>
        </p:txBody>
      </p:sp>
      <p:sp>
        <p:nvSpPr>
          <p:cNvPr id="80" name="bd81"/>
          <p:cNvSpPr txBox="1"/>
          <p:nvPr/>
        </p:nvSpPr>
        <p:spPr>
          <a:xfrm>
            <a:off x="6400800" y="4826000"/>
            <a:ext cx="2120900" cy="1447800"/>
          </a:xfrm>
          <a:prstGeom prst="rect">
            <a:avLst/>
          </a:prstGeom>
          <a:noFill/>
        </p:spPr>
        <p:txBody>
          <a:bodyPr lIns="0" tIns="0" rIns="0" bIns="0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Supabase (PostgreSQL)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Vite build SPA</a:t>
            </a:r>
          </a:p>
          <a:p>
            <a:pPr algn="l">
              <a:spcBef>
                <a:spcPts val="300"/>
              </a:spcBef>
            </a:pPr>
            <a:r>
              <a:rPr lang="en-US" sz="1200" dirty="0">
                <a:solidFill>
                  <a:srgbClr val="1F3B4D"/>
                </a:solidFill>
              </a:rPr>
              <a:t>.NET serve static + SPA</a:t>
            </a:r>
          </a:p>
        </p:txBody>
      </p:sp>
      <p:sp>
        <p:nvSpPr>
          <p:cNvPr id="81" name="hl82"/>
          <p:cNvSpPr/>
          <p:nvPr/>
        </p:nvSpPr>
        <p:spPr>
          <a:xfrm>
            <a:off x="8953500" y="4216400"/>
            <a:ext cx="2400300" cy="2159000"/>
          </a:xfrm>
          <a:prstGeom prst="roundRect">
            <a:avLst>
              <a:gd name="adj" fmla="val 6000"/>
            </a:avLst>
          </a:prstGeom>
          <a:solidFill>
            <a:srgbClr val="0891B2"/>
          </a:solidFill>
          <a:ln>
            <a:noFill/>
          </a:ln>
        </p:spPr>
        <p:txBody>
          <a:bodyPr lIns="27432" tIns="18288" rIns="27432" bIns="18288" rtlCol="0" anchor="ctr">
            <a:normAutofit/>
          </a:bodyPr>
          <a:lstStyle/>
          <a:p>
            <a:pPr algn="ctr"/>
            <a:r>
              <a:rPr lang="en-US" sz="1300" b="1" dirty="0">
                <a:solidFill>
                  <a:srgbClr val="FFFFFF"/>
                </a:solidFill>
              </a:rPr>
              <a:t>Điểm nhấn</a:t>
            </a:r>
          </a:p>
          <a:p>
            <a:pPr algn="ctr">
              <a:spcBef>
                <a:spcPts val="400"/>
              </a:spcBef>
            </a:pPr>
            <a:r>
              <a:rPr lang="en-US" sz="1200" dirty="0">
                <a:solidFill>
                  <a:srgbClr val="EAF4F8"/>
                </a:solidFill>
              </a:rPr>
              <a:t>Tự động hóa quy trình rửa xe end-to-end</a:t>
            </a:r>
          </a:p>
        </p:txBody>
      </p:sp>
    </p:spTree>
    <p:extLst>
      <p:ext uri="{BB962C8B-B14F-4D97-AF65-F5344CB8AC3E}">
        <p14:creationId xmlns:p14="http://schemas.microsoft.com/office/powerpoint/2010/main" val="2784236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C500A-EE9C-5AF8-25F7-C831ED4C4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Minh họa quy trình</a:t>
            </a:r>
          </a:p>
        </p:txBody>
      </p:sp>
      <p:sp>
        <p:nvSpPr>
          <p:cNvPr id="60" name="l61"/>
          <p:cNvSpPr txBox="1"/>
          <p:nvPr/>
        </p:nvSpPr>
        <p:spPr>
          <a:xfrm>
            <a:off x="838200" y="1854200"/>
            <a:ext cx="10515600" cy="254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500" b="1" dirty="0">
                <a:solidFill>
                  <a:srgbClr val="0891B2"/>
                </a:solidFill>
              </a:rPr>
              <a:t>1 · Luồng khách hàng đặt &amp; dùng dịch vụ</a:t>
            </a:r>
          </a:p>
        </p:txBody>
      </p:sp>
      <p:sp>
        <p:nvSpPr>
          <p:cNvPr id="61" name="p62"/>
          <p:cNvSpPr/>
          <p:nvPr/>
        </p:nvSpPr>
        <p:spPr>
          <a:xfrm>
            <a:off x="8382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Đăng ký / Đăng nhập</a:t>
            </a:r>
          </a:p>
        </p:txBody>
      </p:sp>
      <p:sp>
        <p:nvSpPr>
          <p:cNvPr id="62" name="a63"/>
          <p:cNvSpPr/>
          <p:nvPr/>
        </p:nvSpPr>
        <p:spPr>
          <a:xfrm>
            <a:off x="2387600" y="2540000"/>
            <a:ext cx="228600" cy="2032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3" name="p64"/>
          <p:cNvSpPr/>
          <p:nvPr/>
        </p:nvSpPr>
        <p:spPr>
          <a:xfrm>
            <a:off x="25908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Chọn dịch vụ &amp; giờ</a:t>
            </a:r>
          </a:p>
        </p:txBody>
      </p:sp>
      <p:sp>
        <p:nvSpPr>
          <p:cNvPr id="64" name="a65"/>
          <p:cNvSpPr/>
          <p:nvPr/>
        </p:nvSpPr>
        <p:spPr>
          <a:xfrm>
            <a:off x="4140200" y="2540000"/>
            <a:ext cx="228600" cy="2032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5" name="p66"/>
          <p:cNvSpPr/>
          <p:nvPr/>
        </p:nvSpPr>
        <p:spPr>
          <a:xfrm>
            <a:off x="43434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Đặt lịch &amp; Thanh toán</a:t>
            </a:r>
          </a:p>
        </p:txBody>
      </p:sp>
      <p:sp>
        <p:nvSpPr>
          <p:cNvPr id="66" name="a67"/>
          <p:cNvSpPr/>
          <p:nvPr/>
        </p:nvSpPr>
        <p:spPr>
          <a:xfrm>
            <a:off x="5892800" y="2540000"/>
            <a:ext cx="228600" cy="2032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7" name="p68"/>
          <p:cNvSpPr/>
          <p:nvPr/>
        </p:nvSpPr>
        <p:spPr>
          <a:xfrm>
            <a:off x="60960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Đến trạm &amp; Check-in</a:t>
            </a:r>
          </a:p>
        </p:txBody>
      </p:sp>
      <p:sp>
        <p:nvSpPr>
          <p:cNvPr id="68" name="a69"/>
          <p:cNvSpPr/>
          <p:nvPr/>
        </p:nvSpPr>
        <p:spPr>
          <a:xfrm>
            <a:off x="7645400" y="2540000"/>
            <a:ext cx="228600" cy="2032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69" name="p70"/>
          <p:cNvSpPr/>
          <p:nvPr/>
        </p:nvSpPr>
        <p:spPr>
          <a:xfrm>
            <a:off x="78486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Rửa xe tự động</a:t>
            </a:r>
          </a:p>
        </p:txBody>
      </p:sp>
      <p:sp>
        <p:nvSpPr>
          <p:cNvPr id="70" name="a71"/>
          <p:cNvSpPr/>
          <p:nvPr/>
        </p:nvSpPr>
        <p:spPr>
          <a:xfrm>
            <a:off x="9398000" y="2540000"/>
            <a:ext cx="228600" cy="203200"/>
          </a:xfrm>
          <a:prstGeom prst="rightArrow">
            <a:avLst/>
          </a:prstGeom>
          <a:solidFill>
            <a:srgbClr val="0891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1" name="p72"/>
          <p:cNvSpPr/>
          <p:nvPr/>
        </p:nvSpPr>
        <p:spPr>
          <a:xfrm>
            <a:off x="9601200" y="2235200"/>
            <a:ext cx="1524000" cy="812800"/>
          </a:xfrm>
          <a:prstGeom prst="roundRect">
            <a:avLst>
              <a:gd name="adj" fmla="val 12000"/>
            </a:avLst>
          </a:prstGeom>
          <a:solidFill>
            <a:srgbClr val="EAF4F8"/>
          </a:solidFill>
          <a:ln w="9525">
            <a:solidFill>
              <a:srgbClr val="0891B2"/>
            </a:solidFill>
          </a:ln>
        </p:spPr>
        <p:txBody>
          <a:bodyPr lIns="7620" tIns="3810" rIns="7620" bIns="3810" rtlCol="0" anchor="ctr">
            <a:normAutofit/>
          </a:bodyPr>
          <a:lstStyle/>
          <a:p>
            <a:pPr algn="ctr"/>
            <a:r>
              <a:rPr lang="en-US" sz="1200" b="1" dirty="0">
                <a:solidFill>
                  <a:srgbClr val="0F2436"/>
                </a:solidFill>
              </a:rPr>
              <a:t>Checkout &amp; Tích điểm</a:t>
            </a:r>
          </a:p>
        </p:txBody>
      </p:sp>
      <p:sp>
        <p:nvSpPr>
          <p:cNvPr id="72" name="l73"/>
          <p:cNvSpPr txBox="1"/>
          <p:nvPr/>
        </p:nvSpPr>
        <p:spPr>
          <a:xfrm>
            <a:off x="838200" y="3683000"/>
            <a:ext cx="10515600" cy="254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500" b="1" dirty="0">
                <a:solidFill>
                  <a:srgbClr val="14B8A6"/>
                </a:solidFill>
              </a:rPr>
              <a:t>2 · Quy trình rửa xe tự động (7 bước)</a:t>
            </a:r>
          </a:p>
        </p:txBody>
      </p:sp>
      <p:sp>
        <p:nvSpPr>
          <p:cNvPr id="73" name="ch74"/>
          <p:cNvSpPr/>
          <p:nvPr/>
        </p:nvSpPr>
        <p:spPr>
          <a:xfrm>
            <a:off x="8382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Đã check-in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4" name="ch75"/>
          <p:cNvSpPr/>
          <p:nvPr/>
        </p:nvSpPr>
        <p:spPr>
          <a:xfrm>
            <a:off x="21844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Đang rửa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5" name="ch76"/>
          <p:cNvSpPr/>
          <p:nvPr/>
        </p:nvSpPr>
        <p:spPr>
          <a:xfrm>
            <a:off x="35306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Đã sấy khô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6" name="ch77"/>
          <p:cNvSpPr/>
          <p:nvPr/>
        </p:nvSpPr>
        <p:spPr>
          <a:xfrm>
            <a:off x="48768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Chụp ảnh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7" name="ch78"/>
          <p:cNvSpPr/>
          <p:nvPr/>
        </p:nvSpPr>
        <p:spPr>
          <a:xfrm>
            <a:off x="62230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Gửi email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8" name="ch79"/>
          <p:cNvSpPr/>
          <p:nvPr/>
        </p:nvSpPr>
        <p:spPr>
          <a:xfrm>
            <a:off x="75692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E7490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Chờ thanh toán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79" name="ch80"/>
          <p:cNvSpPr/>
          <p:nvPr/>
        </p:nvSpPr>
        <p:spPr>
          <a:xfrm>
            <a:off x="8915400" y="4064000"/>
            <a:ext cx="1498600" cy="787400"/>
          </a:xfrm>
          <a:prstGeom prst="chevron">
            <a:avLst>
              <a:gd name="adj" fmla="val 42000"/>
            </a:avLst>
          </a:prstGeom>
          <a:solidFill>
            <a:srgbClr val="0F766E"/>
          </a:solidFill>
          <a:ln>
            <a:noFill/>
          </a:ln>
        </p:spPr>
        <p:txBody>
          <a:bodyPr lIns="3810" tIns="3810" rIns="10160" bIns="3810" rtlCol="0" anchor="ctr">
            <a:normAutofit/>
          </a:bodyPr>
          <a:lstStyle/>
          <a:p>
            <a:pPr algn="ctr"/>
            <a:r>
              <a:rPr lang="en-US" sz="1100" b="0" dirty="0">
                <a:solidFill>
                  <a:srgbClr val="FFFFFF"/>
                </a:solidFill>
              </a:rPr>
              <a:t>Hoàn tất</a:t>
            </a:r>
          </a:p>
          <a:p>
            <a:pPr algn="ctr">
              <a:spcBef>
                <a:spcPts val="100"/>
              </a:spcBef>
            </a:pPr>
            <a:endParaRPr lang="en-US" sz="1100" b="0" dirty="0">
              <a:solidFill>
                <a:srgbClr val="FFFFFF"/>
              </a:solidFill>
            </a:endParaRPr>
          </a:p>
        </p:txBody>
      </p:sp>
      <p:sp>
        <p:nvSpPr>
          <p:cNvPr id="80" name="l81"/>
          <p:cNvSpPr txBox="1"/>
          <p:nvPr/>
        </p:nvSpPr>
        <p:spPr>
          <a:xfrm>
            <a:off x="838200" y="5130800"/>
            <a:ext cx="10515600" cy="381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300" b="0" dirty="0">
                <a:solidFill>
                  <a:srgbClr val="1F3B4D"/>
                </a:solidFill>
              </a:rPr>
              <a:t>Trạng thái Booking:  Pending → Confirmed → CheckedIn → Washing → WaitingCheckout → Completed   (ngoại lệ: Cancelled, NoShow)</a:t>
            </a:r>
          </a:p>
        </p:txBody>
      </p:sp>
      <p:sp>
        <p:nvSpPr>
          <p:cNvPr id="81" name="l82"/>
          <p:cNvSpPr txBox="1"/>
          <p:nvPr/>
        </p:nvSpPr>
        <p:spPr>
          <a:xfrm>
            <a:off x="838200" y="5537200"/>
            <a:ext cx="10515600" cy="381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300" b="0" dirty="0">
                <a:solidFill>
                  <a:srgbClr val="1F3B4D"/>
                </a:solidFill>
              </a:rPr>
              <a:t>Trạng thái Queue:  Waiting → LPR_Scan → Washing → Addon_Processing → Drying → Completed → Archived</a:t>
            </a:r>
          </a:p>
        </p:txBody>
      </p:sp>
      <p:sp>
        <p:nvSpPr>
          <p:cNvPr id="82" name="l83"/>
          <p:cNvSpPr txBox="1"/>
          <p:nvPr/>
        </p:nvSpPr>
        <p:spPr>
          <a:xfrm>
            <a:off x="838200" y="5943600"/>
            <a:ext cx="10515600" cy="381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l"/>
            <a:r>
              <a:rPr lang="en-US" sz="1300" b="0" dirty="0">
                <a:solidFill>
                  <a:srgbClr val="155E75"/>
                </a:solidFill>
              </a:rPr>
              <a:t>Nhân viên / Quản trị: Dashboard → Theo dõi hàng chờ real-time → Check-in → Giám sát tiến trình → Xác nhận hoàn tất.</a:t>
            </a:r>
          </a:p>
        </p:txBody>
      </p:sp>
      <p:sp>
        <p:nvSpPr>
          <p:cNvPr id="200" name="pct0"/>
          <p:cNvSpPr txBox="1"/>
          <p:nvPr/>
        </p:nvSpPr>
        <p:spPr>
          <a:xfrm>
            <a:off x="8128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20%</a:t>
            </a:r>
          </a:p>
        </p:txBody>
      </p:sp>
      <p:sp>
        <p:nvSpPr>
          <p:cNvPr id="201" name="pct1"/>
          <p:cNvSpPr txBox="1"/>
          <p:nvPr/>
        </p:nvSpPr>
        <p:spPr>
          <a:xfrm>
            <a:off x="21590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50%</a:t>
            </a:r>
          </a:p>
        </p:txBody>
      </p:sp>
      <p:sp>
        <p:nvSpPr>
          <p:cNvPr id="202" name="pct2"/>
          <p:cNvSpPr txBox="1"/>
          <p:nvPr/>
        </p:nvSpPr>
        <p:spPr>
          <a:xfrm>
            <a:off x="35052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80%</a:t>
            </a:r>
          </a:p>
        </p:txBody>
      </p:sp>
      <p:sp>
        <p:nvSpPr>
          <p:cNvPr id="203" name="pct3"/>
          <p:cNvSpPr txBox="1"/>
          <p:nvPr/>
        </p:nvSpPr>
        <p:spPr>
          <a:xfrm>
            <a:off x="48514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90%</a:t>
            </a:r>
          </a:p>
        </p:txBody>
      </p:sp>
      <p:sp>
        <p:nvSpPr>
          <p:cNvPr id="204" name="pct4"/>
          <p:cNvSpPr txBox="1"/>
          <p:nvPr/>
        </p:nvSpPr>
        <p:spPr>
          <a:xfrm>
            <a:off x="61976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93%</a:t>
            </a:r>
          </a:p>
        </p:txBody>
      </p:sp>
      <p:sp>
        <p:nvSpPr>
          <p:cNvPr id="205" name="pct5"/>
          <p:cNvSpPr txBox="1"/>
          <p:nvPr/>
        </p:nvSpPr>
        <p:spPr>
          <a:xfrm>
            <a:off x="75438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95%</a:t>
            </a:r>
          </a:p>
        </p:txBody>
      </p:sp>
      <p:sp>
        <p:nvSpPr>
          <p:cNvPr id="206" name="pct6"/>
          <p:cNvSpPr txBox="1"/>
          <p:nvPr/>
        </p:nvSpPr>
        <p:spPr>
          <a:xfrm>
            <a:off x="8890000" y="4876800"/>
            <a:ext cx="1397000" cy="2286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pPr algn="ctr"/>
            <a:r>
              <a:rPr lang="en-US" sz="1300" b="1" dirty="0">
                <a:solidFill>
                  <a:srgbClr val="0F766E"/>
                </a:solidFill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39612166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47F36-A189-DFE1-70CE-76E451D7C6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Kết luận</a:t>
            </a:r>
          </a:p>
        </p:txBody>
      </p:sp>
      <p:sp>
        <p:nvSpPr>
          <p:cNvPr id="60" name="c61"/>
          <p:cNvSpPr/>
          <p:nvPr/>
        </p:nvSpPr>
        <p:spPr>
          <a:xfrm>
            <a:off x="838200" y="1905000"/>
            <a:ext cx="5562600" cy="2108200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0891B2"/>
            </a:solidFill>
          </a:ln>
        </p:spPr>
        <p:txBody>
          <a:bodyPr lIns="54864" tIns="45720" rIns="54864" bIns="27432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600" b="1" dirty="0">
                <a:solidFill>
                  <a:srgbClr val="0891B2"/>
                </a:solidFill>
              </a:rPr>
              <a:t>Kết quả đạt được</a:t>
            </a:r>
          </a:p>
          <a:p>
            <a:pPr algn="l">
              <a:spcBef>
                <a:spcPts val="400"/>
              </a:spcBef>
            </a:pPr>
            <a:r>
              <a:rPr lang="en-US" sz="1400" b="0" dirty="0">
                <a:solidFill>
                  <a:srgbClr val="1F3B4D"/>
                </a:solidFill>
              </a:rPr>
              <a:t>Xây dựng hệ thống web hoàn chỉnh tự động hóa quy trình rửa xe: đặt lịch online, theo dõi real-time, thanh toán online và chương trình khách hàng thân thiết.</a:t>
            </a:r>
          </a:p>
        </p:txBody>
      </p:sp>
      <p:sp>
        <p:nvSpPr>
          <p:cNvPr id="61" name="c62"/>
          <p:cNvSpPr/>
          <p:nvPr/>
        </p:nvSpPr>
        <p:spPr>
          <a:xfrm>
            <a:off x="838200" y="4216400"/>
            <a:ext cx="5562600" cy="2108200"/>
          </a:xfrm>
          <a:prstGeom prst="roundRect">
            <a:avLst/>
          </a:prstGeom>
          <a:solidFill>
            <a:srgbClr val="EAF4F8"/>
          </a:solidFill>
          <a:ln w="12700">
            <a:solidFill>
              <a:srgbClr val="14B8A6"/>
            </a:solidFill>
          </a:ln>
        </p:spPr>
        <p:txBody>
          <a:bodyPr lIns="54864" tIns="45720" rIns="54864" bIns="27432" rtlCol="0" anchor="t">
            <a:normAutofit/>
          </a:bodyPr>
          <a:lstStyle/>
          <a:p>
            <a:pPr algn="l">
              <a:spcBef>
                <a:spcPts val="300"/>
              </a:spcBef>
            </a:pPr>
            <a:r>
              <a:rPr lang="en-US" sz="1600" b="1" dirty="0">
                <a:solidFill>
                  <a:srgbClr val="14B8A6"/>
                </a:solidFill>
              </a:rPr>
              <a:t>Giá trị mang lại</a:t>
            </a:r>
          </a:p>
          <a:p>
            <a:pPr algn="l">
              <a:spcBef>
                <a:spcPts val="400"/>
              </a:spcBef>
            </a:pPr>
            <a:r>
              <a:rPr lang="en-US" sz="1400" b="0" dirty="0">
                <a:solidFill>
                  <a:srgbClr val="1F3B4D"/>
                </a:solidFill>
              </a:rPr>
              <a:t>Nâng cao trải nghiệm khách hàng, giảm thao tác thủ công cho nhân viên, tăng tính minh bạch và hỗ trợ giữ chân khách hàng.</a:t>
            </a:r>
          </a:p>
        </p:txBody>
      </p:sp>
      <p:sp>
        <p:nvSpPr>
          <p:cNvPr id="62" name="rh"/>
          <p:cNvSpPr txBox="1"/>
          <p:nvPr/>
        </p:nvSpPr>
        <p:spPr>
          <a:xfrm>
            <a:off x="6858000" y="1905000"/>
            <a:ext cx="4495800" cy="381000"/>
          </a:xfrm>
          <a:prstGeom prst="rect">
            <a:avLst/>
          </a:prstGeom>
          <a:noFill/>
        </p:spPr>
        <p:txBody>
          <a:bodyPr lIns="0" tIns="0" rIns="0" bIns="0" rtlCol="0" anchor="ctr"/>
          <a:lstStyle/>
          <a:p>
            <a:r>
              <a:rPr lang="en-US" sz="1600" b="1" dirty="0">
                <a:solidFill>
                  <a:srgbClr val="2563EB"/>
                </a:solidFill>
              </a:rPr>
              <a:t>Hướng phát triển tương lai</a:t>
            </a:r>
          </a:p>
        </p:txBody>
      </p:sp>
      <p:sp>
        <p:nvSpPr>
          <p:cNvPr id="63" name="fr0"/>
          <p:cNvSpPr/>
          <p:nvPr/>
        </p:nvSpPr>
        <p:spPr>
          <a:xfrm>
            <a:off x="6858000" y="2438400"/>
            <a:ext cx="4495800" cy="914400"/>
          </a:xfrm>
          <a:prstGeom prst="roundRect">
            <a:avLst>
              <a:gd name="adj" fmla="val 8000"/>
            </a:avLst>
          </a:prstGeom>
          <a:solidFill>
            <a:srgbClr val="F7FBFD"/>
          </a:solidFill>
          <a:ln w="9525">
            <a:solidFill>
              <a:srgbClr val="C9E3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4" name="fn0"/>
          <p:cNvSpPr/>
          <p:nvPr/>
        </p:nvSpPr>
        <p:spPr>
          <a:xfrm>
            <a:off x="7035800" y="26670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5" name="ft0"/>
          <p:cNvSpPr txBox="1"/>
          <p:nvPr/>
        </p:nvSpPr>
        <p:spPr>
          <a:xfrm>
            <a:off x="7645400" y="2540000"/>
            <a:ext cx="3556000" cy="7112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3B4D"/>
                </a:solidFill>
              </a:rPr>
              <a:t>Tích hợp AI nhận diện biển số / loại xe thực (thay cho mô phỏng).</a:t>
            </a:r>
          </a:p>
        </p:txBody>
      </p:sp>
      <p:sp>
        <p:nvSpPr>
          <p:cNvPr id="66" name="fr1"/>
          <p:cNvSpPr/>
          <p:nvPr/>
        </p:nvSpPr>
        <p:spPr>
          <a:xfrm>
            <a:off x="6858000" y="3505200"/>
            <a:ext cx="4495800" cy="914400"/>
          </a:xfrm>
          <a:prstGeom prst="roundRect">
            <a:avLst>
              <a:gd name="adj" fmla="val 8000"/>
            </a:avLst>
          </a:prstGeom>
          <a:solidFill>
            <a:srgbClr val="F7FBFD"/>
          </a:solidFill>
          <a:ln w="9525">
            <a:solidFill>
              <a:srgbClr val="C9E3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67" name="fn1"/>
          <p:cNvSpPr/>
          <p:nvPr/>
        </p:nvSpPr>
        <p:spPr>
          <a:xfrm>
            <a:off x="7035800" y="37338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8" name="ft1"/>
          <p:cNvSpPr txBox="1"/>
          <p:nvPr/>
        </p:nvSpPr>
        <p:spPr>
          <a:xfrm>
            <a:off x="7645400" y="3606800"/>
            <a:ext cx="3556000" cy="7112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3B4D"/>
                </a:solidFill>
              </a:rPr>
              <a:t>Ứng dụng di động cho khách hàng.</a:t>
            </a:r>
          </a:p>
        </p:txBody>
      </p:sp>
      <p:sp>
        <p:nvSpPr>
          <p:cNvPr id="69" name="fr2"/>
          <p:cNvSpPr/>
          <p:nvPr/>
        </p:nvSpPr>
        <p:spPr>
          <a:xfrm>
            <a:off x="6858000" y="4572000"/>
            <a:ext cx="4495800" cy="914400"/>
          </a:xfrm>
          <a:prstGeom prst="roundRect">
            <a:avLst>
              <a:gd name="adj" fmla="val 8000"/>
            </a:avLst>
          </a:prstGeom>
          <a:solidFill>
            <a:srgbClr val="F7FBFD"/>
          </a:solidFill>
          <a:ln w="9525">
            <a:solidFill>
              <a:srgbClr val="C9E3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0" name="fn2"/>
          <p:cNvSpPr/>
          <p:nvPr/>
        </p:nvSpPr>
        <p:spPr>
          <a:xfrm>
            <a:off x="7035800" y="48006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71" name="ft2"/>
          <p:cNvSpPr txBox="1"/>
          <p:nvPr/>
        </p:nvSpPr>
        <p:spPr>
          <a:xfrm>
            <a:off x="7645400" y="4673600"/>
            <a:ext cx="3556000" cy="7112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3B4D"/>
                </a:solidFill>
              </a:rPr>
              <a:t>Phân tích dữ liệu &amp; gợi ý dịch vụ cá nhân hóa.</a:t>
            </a:r>
          </a:p>
        </p:txBody>
      </p:sp>
      <p:sp>
        <p:nvSpPr>
          <p:cNvPr id="72" name="fr3"/>
          <p:cNvSpPr/>
          <p:nvPr/>
        </p:nvSpPr>
        <p:spPr>
          <a:xfrm>
            <a:off x="6858000" y="5638800"/>
            <a:ext cx="4495800" cy="914400"/>
          </a:xfrm>
          <a:prstGeom prst="roundRect">
            <a:avLst>
              <a:gd name="adj" fmla="val 8000"/>
            </a:avLst>
          </a:prstGeom>
          <a:solidFill>
            <a:srgbClr val="F7FBFD"/>
          </a:solidFill>
          <a:ln w="9525">
            <a:solidFill>
              <a:srgbClr val="C9E3E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73" name="fn3"/>
          <p:cNvSpPr/>
          <p:nvPr/>
        </p:nvSpPr>
        <p:spPr>
          <a:xfrm>
            <a:off x="7035800" y="5867400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txBody>
          <a:bodyPr lIns="0" tIns="0" rIns="0" bIns="0" rtlCol="0" anchor="ctr"/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74" name="ft3"/>
          <p:cNvSpPr txBox="1"/>
          <p:nvPr/>
        </p:nvSpPr>
        <p:spPr>
          <a:xfrm>
            <a:off x="7645400" y="5740400"/>
            <a:ext cx="3556000" cy="711200"/>
          </a:xfrm>
          <a:prstGeom prst="rect">
            <a:avLst/>
          </a:prstGeom>
          <a:noFill/>
        </p:spPr>
        <p:txBody>
          <a:bodyPr lIns="0" tIns="0" rIns="0" bIns="0" rtlCol="0" anchor="ctr">
            <a:normAutofit/>
          </a:bodyPr>
          <a:lstStyle/>
          <a:p>
            <a:r>
              <a:rPr lang="en-US" sz="1400" dirty="0">
                <a:solidFill>
                  <a:srgbClr val="1F3B4D"/>
                </a:solidFill>
              </a:rPr>
              <a:t>Mở rộng đa chi nhánh &amp; phân quyền chi tiết hơn.</a:t>
            </a:r>
          </a:p>
        </p:txBody>
      </p:sp>
    </p:spTree>
    <p:extLst>
      <p:ext uri="{BB962C8B-B14F-4D97-AF65-F5344CB8AC3E}">
        <p14:creationId xmlns:p14="http://schemas.microsoft.com/office/powerpoint/2010/main" val="3676177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466E98-8D8F-ECBD-174C-7424C9190D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Cảm ơn!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B1F479-1F55-9864-5F66-4B5E3B6F4F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>
              <a:spcBef>
                <a:spcPts val="600"/>
              </a:spcBef>
            </a:pPr>
            <a:r>
              <a:rPr lang="en-US" sz="1600" dirty="0"/>
              <a:t>Q&amp;A — Sẵn sàng giải đáp câu hỏi</a:t>
            </a:r>
          </a:p>
          <a:p>
            <a:pPr algn="ctr">
              <a:spcBef>
                <a:spcPts val="600"/>
              </a:spcBef>
            </a:pPr>
            <a:r>
              <a:rPr lang="en-US" sz="1600" dirty="0"/>
              <a:t>Xin cảm ơn giảng viên hướng dẫn và hội đồng đã theo dõi.</a:t>
            </a:r>
          </a:p>
          <a:p>
            <a:pPr algn="ctr">
              <a:spcBef>
                <a:spcPts val="600"/>
              </a:spcBef>
            </a:pPr>
            <a:r>
              <a:rPr lang="en-US" sz="1600" dirty="0"/>
              <a:t>Liên hệ nhóm / Repository dự án: [thông tin liên hệ]</a:t>
            </a:r>
          </a:p>
        </p:txBody>
      </p:sp>
    </p:spTree>
    <p:extLst>
      <p:ext uri="{BB962C8B-B14F-4D97-AF65-F5344CB8AC3E}">
        <p14:creationId xmlns:p14="http://schemas.microsoft.com/office/powerpoint/2010/main" val="16420095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84333582758]">
  <a:themeElements>
    <a:clrScheme name="Office">
      <a:dk1>
        <a:srgbClr val="0F2436"/>
      </a:dk1>
      <a:lt1>
        <a:srgbClr val="FFFFFF"/>
      </a:lt1>
      <a:dk2>
        <a:srgbClr val="155E75"/>
      </a:dk2>
      <a:lt2>
        <a:srgbClr val="EAF4F8"/>
      </a:lt2>
      <a:accent1>
        <a:srgbClr val="0891B2"/>
      </a:accent1>
      <a:accent2>
        <a:srgbClr val="2563EB"/>
      </a:accent2>
      <a:accent3>
        <a:srgbClr val="06B6D4"/>
      </a:accent3>
      <a:accent4>
        <a:srgbClr val="0EA5E9"/>
      </a:accent4>
      <a:accent5>
        <a:srgbClr val="14B8A6"/>
      </a:accent5>
      <a:accent6>
        <a:srgbClr val="F59E0B"/>
      </a:accent6>
      <a:hlink>
        <a:srgbClr val="0563C1"/>
      </a:hlink>
      <a:folHlink>
        <a:srgbClr val="954F72"/>
      </a:folHlink>
    </a:clrScheme>
    <a:fontScheme name="Office">
      <a:majorFont>
        <a:latin typeface="Montserra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Open Sans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92BF090-DBAD-4BFA-8521-FB0C7D0CD8C9}">
  <we:reference id="wa200010001" version="1.0.0.1" store="en-US" storeType="OMEX"/>
  <we:alternateReferences>
    <we:reference id="wa200010001" version="1.0.0.1" store="WA200010001" storeType="OMEX"/>
  </we:alternateReferences>
  <we:properties>
    <we:property name="claude.fileId" value="&quot;475ff849-27fd-4d37-b420-76915e04c639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1368</Words>
  <Application>Microsoft Office PowerPoint</Application>
  <PresentationFormat>Widescreen</PresentationFormat>
  <Paragraphs>213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Montserrat</vt:lpstr>
      <vt:lpstr>Open Sans</vt:lpstr>
      <vt:lpstr>Office Theme [1784333582758]</vt:lpstr>
      <vt:lpstr>AutoWash Pro</vt:lpstr>
      <vt:lpstr>Giới thiệu</vt:lpstr>
      <vt:lpstr>Bối cảnh &amp; Thách thức</vt:lpstr>
      <vt:lpstr>Giải pháp đề xuất</vt:lpstr>
      <vt:lpstr>Chức năng chính</vt:lpstr>
      <vt:lpstr>Kiến trúc hệ thống</vt:lpstr>
      <vt:lpstr>Thiết kế cơ sở dữ liệu (ERD)</vt:lpstr>
      <vt:lpstr>Công nghệ sử dụng</vt:lpstr>
      <vt:lpstr>Minh họa quy trình</vt:lpstr>
      <vt:lpstr>Kết luận</vt:lpstr>
      <vt:lpstr>Cảm ơn!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Thuận Nguyễn</dc:creator>
  <cp:lastModifiedBy>Thuận Nguyễn</cp:lastModifiedBy>
  <cp:revision>2</cp:revision>
  <dcterms:created xsi:type="dcterms:W3CDTF">2026-07-18T00:11:17Z</dcterms:created>
  <dcterms:modified xsi:type="dcterms:W3CDTF">2026-07-18T00:38:09Z</dcterms:modified>
</cp:coreProperties>
</file>